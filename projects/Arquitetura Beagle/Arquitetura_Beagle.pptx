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c589b803a48e3" /><Relationship Type="http://schemas.openxmlformats.org/officeDocument/2006/relationships/extended-properties" Target="/docProps/app.xml" Id="R4c6fabedc6a34142" /><Relationship Type="http://schemas.openxmlformats.org/officeDocument/2006/relationships/officeDocument" Target="/ppt/presentation.xml" Id="R19dd1ebb0f604c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d1a28da1141ad"/>
  </p:sldMasterIdLst>
  <p:notesMasterIdLst>
    <p:notesMasterId xmlns:r="http://schemas.openxmlformats.org/officeDocument/2006/relationships" r:id="R8304635bbfad407b"/>
  </p:notesMasterIdLst>
  <p:sldIdLst>
    <p:sldId xmlns:r="http://schemas.openxmlformats.org/officeDocument/2006/relationships" id="256" r:id="Rb327320b2ec545a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1f9731cdc04508" /><Relationship Type="http://schemas.openxmlformats.org/officeDocument/2006/relationships/slideMaster" Target="/ppt/slideMasters/slideMaster1.xml" Id="R3b3d1a28da1141ad" /><Relationship Type="http://schemas.openxmlformats.org/officeDocument/2006/relationships/notesMaster" Target="/ppt/notesMasters/notesMaster1.xml" Id="R8304635bbfad407b" /><Relationship Type="http://schemas.openxmlformats.org/officeDocument/2006/relationships/presProps" Target="/ppt/presProps.xml" Id="R34cc674aff1d44a9" /><Relationship Type="http://schemas.openxmlformats.org/officeDocument/2006/relationships/tableStyles" Target="/ppt/tableStyles.xml" Id="R0e5ae0c626ed447a" /><Relationship Type="http://schemas.openxmlformats.org/officeDocument/2006/relationships/slide" Target="/ppt/slides/slide1.xml" Id="Rb327320b2ec5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3d8173f58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e6bdd5ce543f1" /><Relationship Type="http://schemas.openxmlformats.org/officeDocument/2006/relationships/notesMaster" Target="/ppt/notesMasters/notesMaster1.xml" Id="Rf81e7de8596c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0d0ad91e140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d62025c174f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c8bd0a9504f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fee1387be46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6a446857d4c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f6e5da753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15B906-CD4A-4934-9B90-3066E573BE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F98278-2784-4853-B44B-E73B497DC8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A6FD90-F06C-4DD4-8C28-763611491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6581B-C04F-4581-A299-949CB6D4B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46CCFF-A27D-4962-8DBA-FF1F5AAF0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6A7EE7-AE78-4C55-B781-F0E5C5F12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5AF676-CB9A-456E-AD15-38937991AA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12E8A0-F6D2-4ECC-B00E-CBCB895418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D58D4C-A1AB-4372-814D-949767483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B60689-2A0E-4456-9126-D5FEB310E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109d957a343ca" /><Relationship Type="http://schemas.openxmlformats.org/officeDocument/2006/relationships/slideLayout" Target="/ppt/slideLayouts/slideLayout1.xml" Id="R5d62454d1ec14f8f" /><Relationship Type="http://schemas.openxmlformats.org/officeDocument/2006/relationships/slideLayout" Target="/ppt/slideLayouts/slideLayout2.xml" Id="Rc740502b50f14108" /><Relationship Type="http://schemas.openxmlformats.org/officeDocument/2006/relationships/slideLayout" Target="/ppt/slideLayouts/slideLayout3.xml" Id="R5f1f3da533354aa5" /><Relationship Type="http://schemas.openxmlformats.org/officeDocument/2006/relationships/slideLayout" Target="/ppt/slideLayouts/slideLayout4.xml" Id="Rd7f3f82ae7984d3a" /><Relationship Type="http://schemas.openxmlformats.org/officeDocument/2006/relationships/slideLayout" Target="/ppt/slideLayouts/slideLayout5.xml" Id="Rdd0bf15de2ac432d" /><Relationship Type="http://schemas.openxmlformats.org/officeDocument/2006/relationships/slideLayout" Target="/ppt/slideLayouts/slideLayout6.xml" Id="Rc854ff487ec745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2454d1ec14f8f"/>
    <p:sldLayoutId xmlns:r="http://schemas.openxmlformats.org/officeDocument/2006/relationships" id="2147483650" r:id="Rc740502b50f14108"/>
    <p:sldLayoutId xmlns:r="http://schemas.openxmlformats.org/officeDocument/2006/relationships" id="2147483651" r:id="R5f1f3da533354aa5"/>
    <p:sldLayoutId xmlns:r="http://schemas.openxmlformats.org/officeDocument/2006/relationships" id="2147483652" r:id="Rd7f3f82ae7984d3a"/>
    <p:sldLayoutId xmlns:r="http://schemas.openxmlformats.org/officeDocument/2006/relationships" id="2147483653" r:id="Rdd0bf15de2ac432d"/>
    <p:sldLayoutId xmlns:r="http://schemas.openxmlformats.org/officeDocument/2006/relationships" id="2147483654" r:id="Rc854ff487ec745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f1107cf034f6b" /><Relationship Type="http://schemas.openxmlformats.org/officeDocument/2006/relationships/notesSlide" Target="/ppt/notesSlides/notesSlide1.xml" Id="R0d138c0342c446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static__text1">
            <a:extLst xmlns:a="http://schemas.openxmlformats.org/drawingml/2006/main">
              <a:ext uri="{FF2B5EF4-FFF2-40B4-BE49-F238E27FC236}">
                <a16:creationId xmlns:a16="http://schemas.microsoft.com/office/drawing/2014/main" id="{314224DB-4AF6-4939-99FA-8E9A9418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51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5120"/>
                </a:solidFill>
                <a:latin typeface="Arial"/>
                <a:ea typeface="Arial"/>
                <a:cs typeface="Arial"/>
              </a:rPr>
              <a:t>BEAGLE</a:t>
            </a:r>
          </a:p>
        </p:txBody>
      </p:sp>
      <p:sp>
        <p:nvSpPr>
          <p:cNvPr id="2" name="static__text2">
            <a:extLst xmlns:a="http://schemas.openxmlformats.org/drawingml/2006/main">
              <a:ext uri="{FF2B5EF4-FFF2-40B4-BE49-F238E27FC236}">
                <a16:creationId xmlns:a16="http://schemas.microsoft.com/office/drawing/2014/main" id="{036126F2-D9F2-4B08-9939-582DA10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075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42E4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E49"/>
                </a:solidFill>
                <a:latin typeface="Arial"/>
                <a:ea typeface="Arial"/>
                <a:cs typeface="Arial"/>
              </a:rPr>
              <a:t>Uma arquitetura. Da detecção à investigação.</a:t>
            </a:r>
          </a:p>
        </p:txBody>
      </p:sp>
      <p:sp>
        <p:nvSpPr>
          <p:cNvPr id="3" name="static__text3">
            <a:extLst xmlns:a="http://schemas.openxmlformats.org/drawingml/2006/main">
              <a:ext uri="{FF2B5EF4-FFF2-40B4-BE49-F238E27FC236}">
                <a16:creationId xmlns:a16="http://schemas.microsoft.com/office/drawing/2014/main" id="{ADC3A40F-17A8-4286-B0AE-FE5BDC5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04925"/>
            <a:ext cx="1447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16D"/>
                </a:solidFill>
                <a:latin typeface="Arial"/>
                <a:ea typeface="Arial"/>
                <a:cs typeface="Arial"/>
              </a:rPr>
              <a:t>Fundações compartilhadas conectam engenharia de dados, modelos especializados e inteligência de investigação.</a:t>
            </a:r>
          </a:p>
        </p:txBody>
      </p:sp>
      <p:sp>
        <p:nvSpPr>
          <p:cNvPr id="76" name="static__text76">
            <a:extLst xmlns:a="http://schemas.openxmlformats.org/drawingml/2006/main">
              <a:ext uri="{FF2B5EF4-FFF2-40B4-BE49-F238E27FC236}">
                <a16:creationId xmlns:a16="http://schemas.microsoft.com/office/drawing/2014/main" id="{3EF72F63-CE24-4348-B1A5-1BC9F68D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266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16D"/>
                </a:solidFill>
                <a:latin typeface="Arial"/>
                <a:ea typeface="Arial"/>
                <a:cs typeface="Arial"/>
              </a:rPr>
              <a:t>Leitura: etapas da esquerda para a direita; modelos empilhados atuam em paralelo. Status conforme atualização informada.</a:t>
            </a:r>
          </a:p>
        </p:txBody>
      </p:sp>
      <p:sp>
        <p:nvSpPr>
          <p:cNvPr id="77" name="static__text77">
            <a:extLst xmlns:a="http://schemas.openxmlformats.org/drawingml/2006/main">
              <a:ext uri="{FF2B5EF4-FFF2-40B4-BE49-F238E27FC236}">
                <a16:creationId xmlns:a16="http://schemas.microsoft.com/office/drawing/2014/main" id="{D7001669-87D4-4ABC-9E79-00C695B4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83343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16D"/>
                </a:solidFill>
                <a:latin typeface="Arial"/>
                <a:ea typeface="Arial"/>
                <a:cs typeface="Arial"/>
              </a:rPr>
              <a:t>Corporativo | Interno</a:t>
            </a:r>
          </a:p>
        </p:txBody>
      </p:sp>
      <p:grpSp>
        <p:nvGrpSpPr>
          <p:cNvPr id="79" name="01 Engenharia de Dado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6" name="p1__box66">
              <a:extLst xmlns:a="http://schemas.openxmlformats.org/drawingml/2006/main">
                <a:ext uri="{FF2B5EF4-FFF2-40B4-BE49-F238E27FC236}">
                  <a16:creationId xmlns:a16="http://schemas.microsoft.com/office/drawing/2014/main" id="{2F377C02-0B4B-42EC-955D-279DE97590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7296150"/>
              <a:ext cx="14478000" cy="838200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2F0E7"/>
            </ns0:solidFill>
            <a:ln xmlns:a="http://schemas.openxmlformats.org/drawingml/2006/main" w="9525">
              <a:solidFill>
                <a:srgbClr val="B8D6C4"/>
              </a:solidFill>
              <a:prstDash val="solid"/>
            </a:ln>
          </p:spPr>
        </p:sp>
        <p:sp>
          <p:nvSpPr>
            <p:cNvPr id="67" name="p1__text67">
              <a:extLst xmlns:a="http://schemas.openxmlformats.org/drawingml/2006/main">
                <a:ext uri="{FF2B5EF4-FFF2-40B4-BE49-F238E27FC236}">
                  <a16:creationId xmlns:a16="http://schemas.microsoft.com/office/drawing/2014/main" id="{1BFCE3A5-FAEB-462C-AB71-211CABC69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7458075"/>
              <a:ext cx="2667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6705D"/>
                  </a:solidFill>
                  <a:latin typeface="Arial"/>
                  <a:ea typeface="Arial"/>
                  <a:cs typeface="Arial"/>
                </a:rPr>
                <a:t>ENGENHARIA DE DADOS</a:t>
              </a:r>
            </a:p>
          </p:txBody>
        </p:sp>
        <p:sp>
          <p:nvSpPr>
            <p:cNvPr id="68" name="p1__text68">
              <a:extLst xmlns:a="http://schemas.openxmlformats.org/drawingml/2006/main">
                <a:ext uri="{FF2B5EF4-FFF2-40B4-BE49-F238E27FC236}">
                  <a16:creationId xmlns:a16="http://schemas.microsoft.com/office/drawing/2014/main" id="{512A9534-39A3-4D8B-B577-B22899E738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7810500"/>
              <a:ext cx="26670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Fundação para todos os modelos</a:t>
              </a:r>
            </a:p>
          </p:txBody>
        </p:sp>
        <p:sp>
          <p:nvSpPr>
            <p:cNvPr id="69" name="p1__box69">
              <a:extLst xmlns:a="http://schemas.openxmlformats.org/drawingml/2006/main">
                <a:ext uri="{FF2B5EF4-FFF2-40B4-BE49-F238E27FC236}">
                  <a16:creationId xmlns:a16="http://schemas.microsoft.com/office/drawing/2014/main" id="{871AD10A-B3C0-4617-8F59-B58DA7500D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7448550"/>
              <a:ext cx="95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E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70" name="p1__text70">
              <a:extLst xmlns:a="http://schemas.openxmlformats.org/drawingml/2006/main">
                <a:ext uri="{FF2B5EF4-FFF2-40B4-BE49-F238E27FC236}">
                  <a16:creationId xmlns:a16="http://schemas.microsoft.com/office/drawing/2014/main" id="{185752E6-539A-48E0-821D-4C0DF3BE74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7429500"/>
              <a:ext cx="438150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Aquisição via API paliativa</a:t>
              </a:r>
            </a:p>
          </p:txBody>
        </p:sp>
        <p:sp>
          <p:nvSpPr>
            <p:cNvPr id="71" name="p1__text71">
              <a:extLst xmlns:a="http://schemas.openxmlformats.org/drawingml/2006/main">
                <a:ext uri="{FF2B5EF4-FFF2-40B4-BE49-F238E27FC236}">
                  <a16:creationId xmlns:a16="http://schemas.microsoft.com/office/drawing/2014/main" id="{3F9B7609-31B6-4625-AF7B-DD8D531B36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7820025"/>
              <a:ext cx="43815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pPr>
              <a:r>
                <a:rPr sz="1500" b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Produção · criada em 2025 · ~30 BFFs</a:t>
              </a:r>
            </a:p>
          </p:txBody>
        </p:sp>
        <p:sp>
          <p:nvSpPr>
            <p:cNvPr id="72" name="p1__box72">
              <a:extLst xmlns:a="http://schemas.openxmlformats.org/drawingml/2006/main">
                <a:ext uri="{FF2B5EF4-FFF2-40B4-BE49-F238E27FC236}">
                  <a16:creationId xmlns:a16="http://schemas.microsoft.com/office/drawing/2014/main" id="{A04D10B3-61AF-40D8-AB5A-DA0352D55D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0" y="7448550"/>
              <a:ext cx="95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DDE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73" name="p1__text73">
              <a:extLst xmlns:a="http://schemas.openxmlformats.org/drawingml/2006/main">
                <a:ext uri="{FF2B5EF4-FFF2-40B4-BE49-F238E27FC236}">
                  <a16:creationId xmlns:a16="http://schemas.microsoft.com/office/drawing/2014/main" id="{5657FAF9-E794-43C5-9B1B-F2A2FDE42D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01050" y="7429500"/>
              <a:ext cx="6143625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875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Barramento de aquisição</a:t>
              </a:r>
            </a:p>
          </p:txBody>
        </p:sp>
        <p:sp>
          <p:nvSpPr>
            <p:cNvPr id="74" name="p1__text74">
              <a:extLst xmlns:a="http://schemas.openxmlformats.org/drawingml/2006/main">
                <a:ext uri="{FF2B5EF4-FFF2-40B4-BE49-F238E27FC236}">
                  <a16:creationId xmlns:a16="http://schemas.microsoft.com/office/drawing/2014/main" id="{278BD7A0-A34E-4239-AD78-98525ACF05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01050" y="7820025"/>
              <a:ext cx="6143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Produção · PoC 09/26 · todos os BFFs · diversity sampling interno</a:t>
              </a:r>
            </a:p>
          </p:txBody>
        </p:sp>
      </p:grpSp>
      <p:grpSp>
        <p:nvGrpSpPr>
          <p:cNvPr id="80" name="02 Engenharia de M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p2__box57">
              <a:extLst xmlns:a="http://schemas.openxmlformats.org/drawingml/2006/main">
                <a:ext uri="{FF2B5EF4-FFF2-40B4-BE49-F238E27FC236}">
                  <a16:creationId xmlns:a16="http://schemas.microsoft.com/office/drawing/2014/main" id="{B0B3E2B1-A9EC-45AD-850E-7BCBE57943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6286500"/>
              <a:ext cx="14478000" cy="781050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2F0E7"/>
            </ns0:solidFill>
            <a:ln xmlns:a="http://schemas.openxmlformats.org/drawingml/2006/main" w="0">
              <a:solidFill>
                <a:srgbClr val="B8D6C4"/>
              </a:solidFill>
              <a:prstDash val="solid"/>
            </a:ln>
          </p:spPr>
        </p:sp>
        <p:sp>
          <p:nvSpPr>
            <p:cNvPr id="58" name="p2__text58">
              <a:extLst xmlns:a="http://schemas.openxmlformats.org/drawingml/2006/main">
                <a:ext uri="{FF2B5EF4-FFF2-40B4-BE49-F238E27FC236}">
                  <a16:creationId xmlns:a16="http://schemas.microsoft.com/office/drawing/2014/main" id="{45F4D78F-20C4-42BB-B267-BC1B3AD3E3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6438900"/>
              <a:ext cx="2667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ENGENHARIA DE ML</a:t>
              </a:r>
            </a:p>
          </p:txBody>
        </p:sp>
        <p:sp>
          <p:nvSpPr>
            <p:cNvPr id="59" name="p2__text59">
              <a:extLst xmlns:a="http://schemas.openxmlformats.org/drawingml/2006/main">
                <a:ext uri="{FF2B5EF4-FFF2-40B4-BE49-F238E27FC236}">
                  <a16:creationId xmlns:a16="http://schemas.microsoft.com/office/drawing/2014/main" id="{60AF1A49-83C3-4326-9722-7F9095678A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" y="6781800"/>
              <a:ext cx="2381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26705D"/>
                  </a:solidFill>
                  <a:latin typeface="Arial"/>
                  <a:ea typeface="Arial"/>
                  <a:cs typeface="Arial"/>
                </a:rPr>
                <a:t>PRODUÇÃO</a:t>
              </a:r>
            </a:p>
          </p:txBody>
        </p:sp>
        <p:sp>
          <p:nvSpPr>
            <p:cNvPr id="60" name="p2__text60">
              <a:extLst xmlns:a="http://schemas.openxmlformats.org/drawingml/2006/main">
                <a:ext uri="{FF2B5EF4-FFF2-40B4-BE49-F238E27FC236}">
                  <a16:creationId xmlns:a16="http://schemas.microsoft.com/office/drawing/2014/main" id="{24BDFD0D-C265-49A9-8262-B42309DF60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6486525"/>
              <a:ext cx="26670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210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Arquitetura cross</a:t>
              </a:r>
            </a:p>
          </p:txBody>
        </p:sp>
        <p:sp>
          <p:nvSpPr>
            <p:cNvPr id="61" name="p2__text61">
              <a:extLst xmlns:a="http://schemas.openxmlformats.org/drawingml/2006/main">
                <a:ext uri="{FF2B5EF4-FFF2-40B4-BE49-F238E27FC236}">
                  <a16:creationId xmlns:a16="http://schemas.microsoft.com/office/drawing/2014/main" id="{1DE76E1B-C0E1-4378-AB01-FD0E2A8658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43650" y="6534150"/>
              <a:ext cx="8239125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Contratos de entrada / saída · conexão entre modelos · desafiantes e testes A/B</a:t>
              </a:r>
            </a:p>
          </p:txBody>
        </p:sp>
        <p:cxnSp>
          <p:nvCxnSpPr>
            <p:cNvPr id="75" name="p2__arrow75">
              <a:extLst xmlns:a="http://schemas.openxmlformats.org/drawingml/2006/main">
                <a:ext uri="{FF2B5EF4-FFF2-40B4-BE49-F238E27FC236}">
                  <a16:creationId xmlns:a16="http://schemas.microsoft.com/office/drawing/2014/main" id="{F1C27562-BB98-48F1-A8F7-CBA38D3F18B0}"/>
                </a:ext>
              </a:extLst>
            </p:cNvPr>
            <p:cNvCxnSpPr/>
            <p:nvPr/>
          </p:nvCxnSpPr>
          <p:spPr>
            <a:xfrm xmlns:a="http://schemas.openxmlformats.org/drawingml/2006/main" flipV="1">
              <a:off x="7620000" y="7105650"/>
              <a:ext cx="0" cy="142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A95120"/>
              </a:solidFill>
              <a:prstDash val="solid"/>
              <a:tailEnd type="triangle" w="med" len="med"/>
            </a:ln>
          </p:spPr>
        </p:cxnSp>
      </p:grpSp>
      <p:grpSp>
        <p:nvGrpSpPr>
          <p:cNvPr id="81" name="03 Argos TS e Argos sub pop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p3__text4">
              <a:extLst xmlns:a="http://schemas.openxmlformats.org/drawingml/2006/main">
                <a:ext uri="{FF2B5EF4-FFF2-40B4-BE49-F238E27FC236}">
                  <a16:creationId xmlns:a16="http://schemas.microsoft.com/office/drawing/2014/main" id="{1817F5B5-7A9B-431E-BABF-2885EE83F6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1781175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" name="p3__text5">
              <a:extLst xmlns:a="http://schemas.openxmlformats.org/drawingml/2006/main">
                <a:ext uri="{FF2B5EF4-FFF2-40B4-BE49-F238E27FC236}">
                  <a16:creationId xmlns:a16="http://schemas.microsoft.com/office/drawing/2014/main" id="{A8E7214B-4B16-4DD8-82F0-DC93EDB20B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" y="1781175"/>
              <a:ext cx="29622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DETECTAR</a:t>
              </a:r>
            </a:p>
          </p:txBody>
        </p:sp>
        <p:sp>
          <p:nvSpPr>
            <p:cNvPr id="6" name="p3__box6">
              <a:extLst xmlns:a="http://schemas.openxmlformats.org/drawingml/2006/main">
                <a:ext uri="{FF2B5EF4-FFF2-40B4-BE49-F238E27FC236}">
                  <a16:creationId xmlns:a16="http://schemas.microsoft.com/office/drawing/2014/main" id="{E421CB76-6185-47B0-AB51-F75D31BC14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2133600"/>
              <a:ext cx="3333750" cy="95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0">
              <a:solidFill>
                <a:srgbClr val="D3D7DB"/>
              </a:solidFill>
              <a:prstDash val="solid"/>
            </a:ln>
          </p:spPr>
        </p:sp>
        <p:sp>
          <p:nvSpPr>
            <p:cNvPr id="16" name="p3__box16">
              <a:extLst xmlns:a="http://schemas.openxmlformats.org/drawingml/2006/main">
                <a:ext uri="{FF2B5EF4-FFF2-40B4-BE49-F238E27FC236}">
                  <a16:creationId xmlns:a16="http://schemas.microsoft.com/office/drawing/2014/main" id="{FA49C744-E67D-4CA2-971B-7CFB1F28D8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2324100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2F0E7"/>
            </ns0:solidFill>
            <a:ln xmlns:a="http://schemas.openxmlformats.org/drawingml/2006/main" w="9525">
              <a:solidFill>
                <a:srgbClr val="B8D6C4"/>
              </a:solidFill>
              <a:prstDash val="solid"/>
            </a:ln>
          </p:spPr>
        </p:sp>
        <p:sp>
          <p:nvSpPr>
            <p:cNvPr id="17" name="p3__text17">
              <a:extLst xmlns:a="http://schemas.openxmlformats.org/drawingml/2006/main">
                <a:ext uri="{FF2B5EF4-FFF2-40B4-BE49-F238E27FC236}">
                  <a16:creationId xmlns:a16="http://schemas.microsoft.com/office/drawing/2014/main" id="{2E44AD18-0F46-404E-91F1-C5927ECB0F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2447925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Argos TS</a:t>
              </a:r>
            </a:p>
          </p:txBody>
        </p:sp>
        <p:sp>
          <p:nvSpPr>
            <p:cNvPr id="18" name="p3__text18">
              <a:extLst xmlns:a="http://schemas.openxmlformats.org/drawingml/2006/main">
                <a:ext uri="{FF2B5EF4-FFF2-40B4-BE49-F238E27FC236}">
                  <a16:creationId xmlns:a16="http://schemas.microsoft.com/office/drawing/2014/main" id="{5ED62547-F758-420B-8640-CE0FA8618D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2847975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Janelas anômalas globais</a:t>
              </a:r>
            </a:p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por produto</a:t>
              </a:r>
            </a:p>
          </p:txBody>
        </p:sp>
        <p:sp>
          <p:nvSpPr>
            <p:cNvPr id="19" name="p3__text19">
              <a:extLst xmlns:a="http://schemas.openxmlformats.org/drawingml/2006/main">
                <a:ext uri="{FF2B5EF4-FFF2-40B4-BE49-F238E27FC236}">
                  <a16:creationId xmlns:a16="http://schemas.microsoft.com/office/drawing/2014/main" id="{36B07446-C02A-4244-8DA8-C86141BF83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3448050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rPr>
                <a:t>PRODUÇÃO</a:t>
              </a:r>
            </a:p>
          </p:txBody>
        </p:sp>
        <p:sp>
          <p:nvSpPr>
            <p:cNvPr id="20" name="p3__box20">
              <a:extLst xmlns:a="http://schemas.openxmlformats.org/drawingml/2006/main">
                <a:ext uri="{FF2B5EF4-FFF2-40B4-BE49-F238E27FC236}">
                  <a16:creationId xmlns:a16="http://schemas.microsoft.com/office/drawing/2014/main" id="{7B6BFC2D-3A5C-41CE-B767-A841FF8CA8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3914775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2F0E7"/>
            </ns0:solidFill>
            <a:ln xmlns:a="http://schemas.openxmlformats.org/drawingml/2006/main" w="9525">
              <a:solidFill>
                <a:srgbClr val="B8D6C4"/>
              </a:solidFill>
              <a:prstDash val="solid"/>
            </a:ln>
          </p:spPr>
        </p:sp>
        <p:sp>
          <p:nvSpPr>
            <p:cNvPr id="21" name="p3__text21">
              <a:extLst xmlns:a="http://schemas.openxmlformats.org/drawingml/2006/main">
                <a:ext uri="{FF2B5EF4-FFF2-40B4-BE49-F238E27FC236}">
                  <a16:creationId xmlns:a16="http://schemas.microsoft.com/office/drawing/2014/main" id="{82110107-7200-4563-993C-2439B67049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4038600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Argos sub pops</a:t>
              </a:r>
            </a:p>
          </p:txBody>
        </p:sp>
        <p:sp>
          <p:nvSpPr>
            <p:cNvPr id="22" name="p3__text22">
              <a:extLst xmlns:a="http://schemas.openxmlformats.org/drawingml/2006/main">
                <a:ext uri="{FF2B5EF4-FFF2-40B4-BE49-F238E27FC236}">
                  <a16:creationId xmlns:a16="http://schemas.microsoft.com/office/drawing/2014/main" id="{90C9E849-899E-4F7B-9658-FF9DC3822F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4438650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Anomalias em contextos</a:t>
              </a:r>
            </a:p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específicos do BFF</a:t>
              </a:r>
            </a:p>
          </p:txBody>
        </p:sp>
        <p:sp>
          <p:nvSpPr>
            <p:cNvPr id="23" name="p3__text23">
              <a:extLst xmlns:a="http://schemas.openxmlformats.org/drawingml/2006/main">
                <a:ext uri="{FF2B5EF4-FFF2-40B4-BE49-F238E27FC236}">
                  <a16:creationId xmlns:a16="http://schemas.microsoft.com/office/drawing/2014/main" id="{1EEBC5AC-EA75-4456-9979-E2F254AFD5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5038725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26705D"/>
                  </a:solidFill>
                  <a:latin typeface="Arial"/>
                  <a:ea typeface="Arial"/>
                  <a:cs typeface="Arial"/>
                </a:rPr>
                <a:t>PRODUÇÃO | IARA</a:t>
              </a:r>
            </a:p>
          </p:txBody>
        </p:sp>
        <p:sp>
          <p:nvSpPr>
            <p:cNvPr id="24" name="p3__text24">
              <a:extLst xmlns:a="http://schemas.openxmlformats.org/drawingml/2006/main">
                <a:ext uri="{FF2B5EF4-FFF2-40B4-BE49-F238E27FC236}">
                  <a16:creationId xmlns:a16="http://schemas.microsoft.com/office/drawing/2014/main" id="{816545B6-58F0-44A8-9C10-1D76554E0F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" y="5553075"/>
              <a:ext cx="333375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Detectores em paralelo</a:t>
              </a:r>
            </a:p>
          </p:txBody>
        </p:sp>
        <p:cxnSp>
          <p:nvCxnSpPr>
            <p:cNvPr id="62" name="p3__arrow62">
              <a:extLst xmlns:a="http://schemas.openxmlformats.org/drawingml/2006/main">
                <a:ext uri="{FF2B5EF4-FFF2-40B4-BE49-F238E27FC236}">
                  <a16:creationId xmlns:a16="http://schemas.microsoft.com/office/drawing/2014/main" id="{DDEFE030-9F5F-442A-AD66-CD44C780E9DD}"/>
                </a:ext>
              </a:extLst>
            </p:cNvPr>
            <p:cNvCxnSpPr/>
            <p:nvPr/>
          </p:nvCxnSpPr>
          <p:spPr>
            <a:xfrm xmlns:a="http://schemas.openxmlformats.org/drawingml/2006/main" flipV="1">
              <a:off x="2047875" y="6096000"/>
              <a:ext cx="0" cy="1333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</p:grpSp>
      <p:grpSp>
        <p:nvGrpSpPr>
          <p:cNvPr id="82" name="04 Argos BT, BT twin e UPsDown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" name="p4__text7">
              <a:extLst xmlns:a="http://schemas.openxmlformats.org/drawingml/2006/main">
                <a:ext uri="{FF2B5EF4-FFF2-40B4-BE49-F238E27FC236}">
                  <a16:creationId xmlns:a16="http://schemas.microsoft.com/office/drawing/2014/main" id="{3DEA6529-3D91-4DBE-9DC6-0172B0364D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781175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8" name="p4__text8">
              <a:extLst xmlns:a="http://schemas.openxmlformats.org/drawingml/2006/main">
                <a:ext uri="{FF2B5EF4-FFF2-40B4-BE49-F238E27FC236}">
                  <a16:creationId xmlns:a16="http://schemas.microsoft.com/office/drawing/2014/main" id="{B539CE01-C1A5-456F-BE05-36C8DD97D9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67225" y="1781175"/>
              <a:ext cx="29622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DIMENSIONAR IMPACTO</a:t>
              </a:r>
            </a:p>
          </p:txBody>
        </p:sp>
        <p:sp>
          <p:nvSpPr>
            <p:cNvPr id="9" name="p4__box9">
              <a:extLst xmlns:a="http://schemas.openxmlformats.org/drawingml/2006/main">
                <a:ext uri="{FF2B5EF4-FFF2-40B4-BE49-F238E27FC236}">
                  <a16:creationId xmlns:a16="http://schemas.microsoft.com/office/drawing/2014/main" id="{3AAD81C1-821E-4B7D-A240-9487C3195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2133600"/>
              <a:ext cx="3333750" cy="95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0">
              <a:solidFill>
                <a:srgbClr val="D3D7DB"/>
              </a:solidFill>
              <a:prstDash val="solid"/>
            </a:ln>
          </p:spPr>
        </p:sp>
        <p:sp>
          <p:nvSpPr>
            <p:cNvPr id="25" name="p4__box25">
              <a:extLst xmlns:a="http://schemas.openxmlformats.org/drawingml/2006/main">
                <a:ext uri="{FF2B5EF4-FFF2-40B4-BE49-F238E27FC236}">
                  <a16:creationId xmlns:a16="http://schemas.microsoft.com/office/drawing/2014/main" id="{FBE497C6-D543-4DF2-9957-61CC1F1DC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2324100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9525">
              <a:solidFill>
                <a:srgbClr val="D3D7DB"/>
              </a:solidFill>
              <a:prstDash val="solid"/>
            </a:ln>
          </p:spPr>
        </p:sp>
        <p:sp>
          <p:nvSpPr>
            <p:cNvPr id="26" name="p4__text26">
              <a:extLst xmlns:a="http://schemas.openxmlformats.org/drawingml/2006/main">
                <a:ext uri="{FF2B5EF4-FFF2-40B4-BE49-F238E27FC236}">
                  <a16:creationId xmlns:a16="http://schemas.microsoft.com/office/drawing/2014/main" id="{7F50DDCE-250C-4B4C-9F1C-45319ED188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2447925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Argos BT</a:t>
              </a:r>
            </a:p>
          </p:txBody>
        </p:sp>
        <p:sp>
          <p:nvSpPr>
            <p:cNvPr id="27" name="p4__text27">
              <a:extLst xmlns:a="http://schemas.openxmlformats.org/drawingml/2006/main">
                <a:ext uri="{FF2B5EF4-FFF2-40B4-BE49-F238E27FC236}">
                  <a16:creationId xmlns:a16="http://schemas.microsoft.com/office/drawing/2014/main" id="{4A1B45CF-D580-4F7A-9DD7-A377F81C0C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2847975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Seleciona e compara traces</a:t>
              </a:r>
            </a:p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normais e anômalos</a:t>
              </a:r>
            </a:p>
          </p:txBody>
        </p:sp>
        <p:sp>
          <p:nvSpPr>
            <p:cNvPr id="28" name="p4__text28">
              <a:extLst xmlns:a="http://schemas.openxmlformats.org/drawingml/2006/main">
                <a:ext uri="{FF2B5EF4-FFF2-40B4-BE49-F238E27FC236}">
                  <a16:creationId xmlns:a16="http://schemas.microsoft.com/office/drawing/2014/main" id="{2F8B955A-4EF8-4B8B-9AB1-9B869E0F1D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3448050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rPr>
                <a:t>DEPLOY</a:t>
              </a:r>
            </a:p>
          </p:txBody>
        </p:sp>
        <p:sp>
          <p:nvSpPr>
            <p:cNvPr id="29" name="p4__box29">
              <a:extLst xmlns:a="http://schemas.openxmlformats.org/drawingml/2006/main">
                <a:ext uri="{FF2B5EF4-FFF2-40B4-BE49-F238E27FC236}">
                  <a16:creationId xmlns:a16="http://schemas.microsoft.com/office/drawing/2014/main" id="{E1A25710-850D-459A-916F-F07D8E1C74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3819525"/>
              <a:ext cx="3333750" cy="952500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FBE9D8"/>
            </ns0:solidFill>
            <a:ln xmlns:a="http://schemas.openxmlformats.org/drawingml/2006/main" w="9525">
              <a:solidFill>
                <a:srgbClr val="E5C4A5"/>
              </a:solidFill>
              <a:prstDash val="solid"/>
            </a:ln>
          </p:spPr>
        </p:sp>
        <p:sp>
          <p:nvSpPr>
            <p:cNvPr id="30" name="p4__text30">
              <a:extLst xmlns:a="http://schemas.openxmlformats.org/drawingml/2006/main">
                <a:ext uri="{FF2B5EF4-FFF2-40B4-BE49-F238E27FC236}">
                  <a16:creationId xmlns:a16="http://schemas.microsoft.com/office/drawing/2014/main" id="{B5E0CD6D-B090-4194-97A3-986DA139B0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3943350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BT twin</a:t>
              </a:r>
            </a:p>
          </p:txBody>
        </p:sp>
        <p:sp>
          <p:nvSpPr>
            <p:cNvPr id="31" name="p4__text31">
              <a:extLst xmlns:a="http://schemas.openxmlformats.org/drawingml/2006/main">
                <a:ext uri="{FF2B5EF4-FFF2-40B4-BE49-F238E27FC236}">
                  <a16:creationId xmlns:a16="http://schemas.microsoft.com/office/drawing/2014/main" id="{E1FE9DF7-892E-42CC-BD89-8E9737E25A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229100"/>
              <a:ext cx="3009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575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Otimiza a janela normal</a:t>
              </a:r>
            </a:p>
          </p:txBody>
        </p:sp>
        <p:sp>
          <p:nvSpPr>
            <p:cNvPr id="32" name="p4__text32">
              <a:extLst xmlns:a="http://schemas.openxmlformats.org/drawingml/2006/main">
                <a:ext uri="{FF2B5EF4-FFF2-40B4-BE49-F238E27FC236}">
                  <a16:creationId xmlns:a16="http://schemas.microsoft.com/office/drawing/2014/main" id="{1E86523F-01C7-419B-942F-A14CF1C30C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514850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MODELAGEM</a:t>
              </a:r>
            </a:p>
          </p:txBody>
        </p:sp>
        <p:sp>
          <p:nvSpPr>
            <p:cNvPr id="33" name="p4__box33">
              <a:extLst xmlns:a="http://schemas.openxmlformats.org/drawingml/2006/main">
                <a:ext uri="{FF2B5EF4-FFF2-40B4-BE49-F238E27FC236}">
                  <a16:creationId xmlns:a16="http://schemas.microsoft.com/office/drawing/2014/main" id="{27E3C765-BB17-417F-BECE-2C983E505C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4886325"/>
              <a:ext cx="3333750" cy="11906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9525">
              <a:solidFill>
                <a:srgbClr val="D3D7DB"/>
              </a:solidFill>
              <a:prstDash val="solid"/>
            </a:ln>
          </p:spPr>
        </p:sp>
        <p:sp>
          <p:nvSpPr>
            <p:cNvPr id="34" name="p4__text34">
              <a:extLst xmlns:a="http://schemas.openxmlformats.org/drawingml/2006/main">
                <a:ext uri="{FF2B5EF4-FFF2-40B4-BE49-F238E27FC236}">
                  <a16:creationId xmlns:a16="http://schemas.microsoft.com/office/drawing/2014/main" id="{DFDEAB6C-A656-4C06-A5EF-6384C9D145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5010150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UPsDown</a:t>
              </a:r>
            </a:p>
          </p:txBody>
        </p:sp>
        <p:sp>
          <p:nvSpPr>
            <p:cNvPr id="35" name="p4__text35">
              <a:extLst xmlns:a="http://schemas.openxmlformats.org/drawingml/2006/main">
                <a:ext uri="{FF2B5EF4-FFF2-40B4-BE49-F238E27FC236}">
                  <a16:creationId xmlns:a16="http://schemas.microsoft.com/office/drawing/2014/main" id="{7849FB94-A744-4640-BBE0-16B918656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5295900"/>
              <a:ext cx="30099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Siglas impactadas · saltos</a:t>
              </a:r>
            </a:p>
            <a:p xmlns:a="http://schemas.openxmlformats.org/drawingml/2006/main">
              <a:pPr>
                <a:def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575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próximos à raiz do BFF</a:t>
              </a:r>
            </a:p>
          </p:txBody>
        </p:sp>
        <p:sp>
          <p:nvSpPr>
            <p:cNvPr id="36" name="p4__text36">
              <a:extLst xmlns:a="http://schemas.openxmlformats.org/drawingml/2006/main">
                <a:ext uri="{FF2B5EF4-FFF2-40B4-BE49-F238E27FC236}">
                  <a16:creationId xmlns:a16="http://schemas.microsoft.com/office/drawing/2014/main" id="{0ED0D25E-713D-471C-8398-902E01876B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5819775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rPr>
                <a:t>DEPLOY</a:t>
              </a:r>
            </a:p>
          </p:txBody>
        </p:sp>
        <p:cxnSp>
          <p:nvCxnSpPr>
            <p:cNvPr id="53" name="p4__arrow53">
              <a:extLst xmlns:a="http://schemas.openxmlformats.org/drawingml/2006/main">
                <a:ext uri="{FF2B5EF4-FFF2-40B4-BE49-F238E27FC236}">
                  <a16:creationId xmlns:a16="http://schemas.microsoft.com/office/drawing/2014/main" id="{56A8C53C-BA20-460F-93D2-223CCEFC4F4B}"/>
                </a:ext>
              </a:extLst>
            </p:cNvPr>
            <p:cNvCxnSpPr/>
            <p:nvPr/>
          </p:nvCxnSpPr>
          <p:spPr>
            <a:xfrm xmlns:a="http://schemas.openxmlformats.org/drawingml/2006/main" flipV="0">
              <a:off x="3771900" y="3009900"/>
              <a:ext cx="2476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  <p:cxnSp>
          <p:nvCxnSpPr>
            <p:cNvPr id="63" name="p4__arrow63">
              <a:extLst xmlns:a="http://schemas.openxmlformats.org/drawingml/2006/main">
                <a:ext uri="{FF2B5EF4-FFF2-40B4-BE49-F238E27FC236}">
                  <a16:creationId xmlns:a16="http://schemas.microsoft.com/office/drawing/2014/main" id="{75B0D3FD-3FE7-4188-919E-3FA856BB6419}"/>
                </a:ext>
              </a:extLst>
            </p:cNvPr>
            <p:cNvCxnSpPr/>
            <p:nvPr/>
          </p:nvCxnSpPr>
          <p:spPr>
            <a:xfrm xmlns:a="http://schemas.openxmlformats.org/drawingml/2006/main" flipV="1">
              <a:off x="5762625" y="6096000"/>
              <a:ext cx="0" cy="1333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</p:grpSp>
      <p:grpSp>
        <p:nvGrpSpPr>
          <p:cNvPr id="83" name="05 RCA SFL e RCA causa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0" name="p5__text10">
              <a:extLst xmlns:a="http://schemas.openxmlformats.org/drawingml/2006/main">
                <a:ext uri="{FF2B5EF4-FFF2-40B4-BE49-F238E27FC236}">
                  <a16:creationId xmlns:a16="http://schemas.microsoft.com/office/drawing/2014/main" id="{659E4985-35BF-4A7C-BED2-3C41C3C5A1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1781175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1" name="p5__text11">
              <a:extLst xmlns:a="http://schemas.openxmlformats.org/drawingml/2006/main">
                <a:ext uri="{FF2B5EF4-FFF2-40B4-BE49-F238E27FC236}">
                  <a16:creationId xmlns:a16="http://schemas.microsoft.com/office/drawing/2014/main" id="{7F70F6FF-F169-4A0D-8CB3-B198CB060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81975" y="1781175"/>
              <a:ext cx="29622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LOCALIZAR SUSPEITOS</a:t>
              </a:r>
            </a:p>
          </p:txBody>
        </p:sp>
        <p:sp>
          <p:nvSpPr>
            <p:cNvPr id="12" name="p5__box12">
              <a:extLst xmlns:a="http://schemas.openxmlformats.org/drawingml/2006/main">
                <a:ext uri="{FF2B5EF4-FFF2-40B4-BE49-F238E27FC236}">
                  <a16:creationId xmlns:a16="http://schemas.microsoft.com/office/drawing/2014/main" id="{01F64BC1-BB91-4D69-914D-A603B965A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2133600"/>
              <a:ext cx="3333750" cy="95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0">
              <a:solidFill>
                <a:srgbClr val="D3D7DB"/>
              </a:solidFill>
              <a:prstDash val="solid"/>
            </a:ln>
          </p:spPr>
        </p:sp>
        <p:sp>
          <p:nvSpPr>
            <p:cNvPr id="37" name="p5__box37">
              <a:extLst xmlns:a="http://schemas.openxmlformats.org/drawingml/2006/main">
                <a:ext uri="{FF2B5EF4-FFF2-40B4-BE49-F238E27FC236}">
                  <a16:creationId xmlns:a16="http://schemas.microsoft.com/office/drawing/2014/main" id="{82EE2A0A-FF3D-4155-BAE7-9244C7F84B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2324100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9525">
              <a:solidFill>
                <a:srgbClr val="D3D7DB"/>
              </a:solidFill>
              <a:prstDash val="solid"/>
            </a:ln>
          </p:spPr>
        </p:sp>
        <p:sp>
          <p:nvSpPr>
            <p:cNvPr id="38" name="p5__text38">
              <a:extLst xmlns:a="http://schemas.openxmlformats.org/drawingml/2006/main">
                <a:ext uri="{FF2B5EF4-FFF2-40B4-BE49-F238E27FC236}">
                  <a16:creationId xmlns:a16="http://schemas.microsoft.com/office/drawing/2014/main" id="{85B7066E-5283-448C-BA0E-4E25355D45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2447925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RCA SFL</a:t>
              </a:r>
            </a:p>
          </p:txBody>
        </p:sp>
        <p:sp>
          <p:nvSpPr>
            <p:cNvPr id="39" name="p5__text39">
              <a:extLst xmlns:a="http://schemas.openxmlformats.org/drawingml/2006/main">
                <a:ext uri="{FF2B5EF4-FFF2-40B4-BE49-F238E27FC236}">
                  <a16:creationId xmlns:a16="http://schemas.microsoft.com/office/drawing/2014/main" id="{2AA03EE9-B19F-4608-8F6A-F131870810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2847975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Hipóteses por presença,</a:t>
              </a:r>
            </a:p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tempo de execução e erros</a:t>
              </a:r>
            </a:p>
          </p:txBody>
        </p:sp>
        <p:sp>
          <p:nvSpPr>
            <p:cNvPr id="40" name="p5__text40">
              <a:extLst xmlns:a="http://schemas.openxmlformats.org/drawingml/2006/main">
                <a:ext uri="{FF2B5EF4-FFF2-40B4-BE49-F238E27FC236}">
                  <a16:creationId xmlns:a16="http://schemas.microsoft.com/office/drawing/2014/main" id="{7BAB083D-C145-44CC-82BE-E3C17E578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3448050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8737D"/>
                  </a:solidFill>
                  <a:latin typeface="Arial"/>
                  <a:ea typeface="Arial"/>
                  <a:cs typeface="Arial"/>
                </a:rPr>
                <a:t>DEPLOY</a:t>
              </a:r>
            </a:p>
          </p:txBody>
        </p:sp>
        <p:sp>
          <p:nvSpPr>
            <p:cNvPr id="41" name="p5__box41">
              <a:extLst xmlns:a="http://schemas.openxmlformats.org/drawingml/2006/main">
                <a:ext uri="{FF2B5EF4-FFF2-40B4-BE49-F238E27FC236}">
                  <a16:creationId xmlns:a16="http://schemas.microsoft.com/office/drawing/2014/main" id="{0B6E78C3-3D1B-4356-9C73-7F6205DFFC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3914775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FBE9D8"/>
            </ns0:solidFill>
            <a:ln xmlns:a="http://schemas.openxmlformats.org/drawingml/2006/main" w="9525">
              <a:solidFill>
                <a:srgbClr val="E5C4A5"/>
              </a:solidFill>
              <a:prstDash val="solid"/>
            </a:ln>
          </p:spPr>
        </p:sp>
        <p:sp>
          <p:nvSpPr>
            <p:cNvPr id="42" name="p5__text42">
              <a:extLst xmlns:a="http://schemas.openxmlformats.org/drawingml/2006/main">
                <a:ext uri="{FF2B5EF4-FFF2-40B4-BE49-F238E27FC236}">
                  <a16:creationId xmlns:a16="http://schemas.microsoft.com/office/drawing/2014/main" id="{48BD5044-E089-4FCB-9B72-F8FAE42A56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4038600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RCA causal</a:t>
              </a:r>
            </a:p>
          </p:txBody>
        </p:sp>
        <p:sp>
          <p:nvSpPr>
            <p:cNvPr id="43" name="p5__text43">
              <a:extLst xmlns:a="http://schemas.openxmlformats.org/drawingml/2006/main">
                <a:ext uri="{FF2B5EF4-FFF2-40B4-BE49-F238E27FC236}">
                  <a16:creationId xmlns:a16="http://schemas.microsoft.com/office/drawing/2014/main" id="{395043B2-CEAB-4A96-834A-8FE95BB054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4438650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Ranking de serviços por</a:t>
              </a:r>
            </a:p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comparação causal de grafos</a:t>
              </a:r>
            </a:p>
          </p:txBody>
        </p:sp>
        <p:sp>
          <p:nvSpPr>
            <p:cNvPr id="44" name="p5__text44">
              <a:extLst xmlns:a="http://schemas.openxmlformats.org/drawingml/2006/main">
                <a:ext uri="{FF2B5EF4-FFF2-40B4-BE49-F238E27FC236}">
                  <a16:creationId xmlns:a16="http://schemas.microsoft.com/office/drawing/2014/main" id="{F82ED842-3815-47BA-B795-A5A04C3833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1950" y="5038725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MODELAGEM</a:t>
              </a:r>
            </a:p>
          </p:txBody>
        </p:sp>
        <p:sp>
          <p:nvSpPr>
            <p:cNvPr id="45" name="p5__text45">
              <a:extLst xmlns:a="http://schemas.openxmlformats.org/drawingml/2006/main">
                <a:ext uri="{FF2B5EF4-FFF2-40B4-BE49-F238E27FC236}">
                  <a16:creationId xmlns:a16="http://schemas.microsoft.com/office/drawing/2014/main" id="{484B70A4-2D02-4A43-AB22-BCB53532F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5553075"/>
              <a:ext cx="333375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3616D"/>
                  </a:solidFill>
                  <a:latin typeface="Arial"/>
                  <a:ea typeface="Arial"/>
                  <a:cs typeface="Arial"/>
                </a:rPr>
                <a:t>Abordagens em paralelo</a:t>
              </a:r>
            </a:p>
          </p:txBody>
        </p:sp>
        <p:cxnSp>
          <p:nvCxnSpPr>
            <p:cNvPr id="54" name="p5__arrow54">
              <a:extLst xmlns:a="http://schemas.openxmlformats.org/drawingml/2006/main">
                <a:ext uri="{FF2B5EF4-FFF2-40B4-BE49-F238E27FC236}">
                  <a16:creationId xmlns:a16="http://schemas.microsoft.com/office/drawing/2014/main" id="{0D77BE84-FCDA-4CFC-99EC-A75863B36AA1}"/>
                </a:ext>
              </a:extLst>
            </p:cNvPr>
            <p:cNvCxnSpPr/>
            <p:nvPr/>
          </p:nvCxnSpPr>
          <p:spPr>
            <a:xfrm xmlns:a="http://schemas.openxmlformats.org/drawingml/2006/main" flipV="0">
              <a:off x="7486650" y="3009900"/>
              <a:ext cx="2476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  <p:cxnSp>
          <p:nvCxnSpPr>
            <p:cNvPr id="64" name="p5__arrow64">
              <a:extLst xmlns:a="http://schemas.openxmlformats.org/drawingml/2006/main">
                <a:ext uri="{FF2B5EF4-FFF2-40B4-BE49-F238E27FC236}">
                  <a16:creationId xmlns:a16="http://schemas.microsoft.com/office/drawing/2014/main" id="{E5CABE72-3AE5-4201-B271-0A94F4D2B453}"/>
                </a:ext>
              </a:extLst>
            </p:cNvPr>
            <p:cNvCxnSpPr/>
            <p:nvPr/>
          </p:nvCxnSpPr>
          <p:spPr>
            <a:xfrm xmlns:a="http://schemas.openxmlformats.org/drawingml/2006/main" flipV="1">
              <a:off x="9477375" y="6096000"/>
              <a:ext cx="0" cy="1333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</p:grpSp>
      <p:grpSp>
        <p:nvGrpSpPr>
          <p:cNvPr id="84" name="06 Companion e Anomaly Card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3" name="p6__text13">
              <a:extLst xmlns:a="http://schemas.openxmlformats.org/drawingml/2006/main">
                <a:ext uri="{FF2B5EF4-FFF2-40B4-BE49-F238E27FC236}">
                  <a16:creationId xmlns:a16="http://schemas.microsoft.com/office/drawing/2014/main" id="{D5F1977E-F899-4F3A-9772-348451B017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1781175"/>
              <a:ext cx="361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4" name="p6__text14">
              <a:extLst xmlns:a="http://schemas.openxmlformats.org/drawingml/2006/main">
                <a:ext uri="{FF2B5EF4-FFF2-40B4-BE49-F238E27FC236}">
                  <a16:creationId xmlns:a16="http://schemas.microsoft.com/office/drawing/2014/main" id="{5EC75A31-3CB3-4E79-AF3B-3D3EFCCF65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896725" y="1781175"/>
              <a:ext cx="29622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INVESTIGAR</a:t>
              </a:r>
            </a:p>
          </p:txBody>
        </p:sp>
        <p:sp>
          <p:nvSpPr>
            <p:cNvPr id="15" name="p6__box15">
              <a:extLst xmlns:a="http://schemas.openxmlformats.org/drawingml/2006/main">
                <a:ext uri="{FF2B5EF4-FFF2-40B4-BE49-F238E27FC236}">
                  <a16:creationId xmlns:a16="http://schemas.microsoft.com/office/drawing/2014/main" id="{B3D297A2-212E-49F1-8747-749AC62148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2133600"/>
              <a:ext cx="3333750" cy="95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0">
              <a:solidFill>
                <a:srgbClr val="D3D7DB"/>
              </a:solidFill>
              <a:prstDash val="solid"/>
            </a:ln>
          </p:spPr>
        </p:sp>
        <p:sp>
          <p:nvSpPr>
            <p:cNvPr id="46" name="p6__box46">
              <a:extLst xmlns:a="http://schemas.openxmlformats.org/drawingml/2006/main">
                <a:ext uri="{FF2B5EF4-FFF2-40B4-BE49-F238E27FC236}">
                  <a16:creationId xmlns:a16="http://schemas.microsoft.com/office/drawing/2014/main" id="{DBD7969C-D355-4554-BF49-E13238FA95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2324100"/>
              <a:ext cx="3333750" cy="1381125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FBE9D8"/>
            </ns0:solidFill>
            <a:ln xmlns:a="http://schemas.openxmlformats.org/drawingml/2006/main" w="9525">
              <a:solidFill>
                <a:srgbClr val="E5C4A5"/>
              </a:solidFill>
              <a:prstDash val="solid"/>
            </a:ln>
          </p:spPr>
        </p:sp>
        <p:sp>
          <p:nvSpPr>
            <p:cNvPr id="47" name="p6__text47">
              <a:extLst xmlns:a="http://schemas.openxmlformats.org/drawingml/2006/main">
                <a:ext uri="{FF2B5EF4-FFF2-40B4-BE49-F238E27FC236}">
                  <a16:creationId xmlns:a16="http://schemas.microsoft.com/office/drawing/2014/main" id="{2BF8A8FF-AA38-40E5-8930-02A2C1D90C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96700" y="2447925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142E49"/>
                  </a:solidFill>
                  <a:latin typeface="Arial"/>
                  <a:ea typeface="Arial"/>
                  <a:cs typeface="Arial"/>
                </a:rPr>
                <a:t>Companion</a:t>
              </a:r>
            </a:p>
          </p:txBody>
        </p:sp>
        <p:sp>
          <p:nvSpPr>
            <p:cNvPr id="48" name="p6__text48">
              <a:extLst xmlns:a="http://schemas.openxmlformats.org/drawingml/2006/main">
                <a:ext uri="{FF2B5EF4-FFF2-40B4-BE49-F238E27FC236}">
                  <a16:creationId xmlns:a16="http://schemas.microsoft.com/office/drawing/2014/main" id="{ED005FB4-5D49-405D-9B2C-7EAFEC13FC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96700" y="2847975"/>
              <a:ext cx="3009900" cy="809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Agente ReAct refina suspeitos;</a:t>
              </a:r>
            </a:p>
            <a:p xmlns:a="http://schemas.openxmlformats.org/drawingml/2006/main">
              <a:pPr>
                <a:def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243746"/>
                  </a:solidFill>
                  <a:latin typeface="Arial"/>
                  <a:ea typeface="Arial"/>
                  <a:cs typeface="Arial"/>
                </a:rPr>
                <a:t>modelos como tools / sensores</a:t>
              </a:r>
            </a:p>
          </p:txBody>
        </p:sp>
        <p:sp>
          <p:nvSpPr>
            <p:cNvPr id="49" name="p6__text49">
              <a:extLst xmlns:a="http://schemas.openxmlformats.org/drawingml/2006/main">
                <a:ext uri="{FF2B5EF4-FFF2-40B4-BE49-F238E27FC236}">
                  <a16:creationId xmlns:a16="http://schemas.microsoft.com/office/drawing/2014/main" id="{3779BE5C-CACF-4CA6-BC3C-0176B09507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96700" y="3448050"/>
              <a:ext cx="3009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95120"/>
                  </a:solidFill>
                  <a:latin typeface="Arial"/>
                  <a:ea typeface="Arial"/>
                  <a:cs typeface="Arial"/>
                </a:rPr>
                <a:t>MODELAGEM</a:t>
              </a:r>
            </a:p>
          </p:txBody>
        </p:sp>
        <p:sp>
          <p:nvSpPr>
            <p:cNvPr id="50" name="p6__box50">
              <a:extLst xmlns:a="http://schemas.openxmlformats.org/drawingml/2006/main">
                <a:ext uri="{FF2B5EF4-FFF2-40B4-BE49-F238E27FC236}">
                  <a16:creationId xmlns:a16="http://schemas.microsoft.com/office/drawing/2014/main" id="{2448F01A-E063-4D44-AD02-5606652C21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4286250"/>
              <a:ext cx="3333750" cy="1428750"/>
            </a:xfrm>
            <a:prstGeom xmlns:a="http://schemas.openxmlformats.org/drawingml/2006/main" prst="rect">
              <a:avLst/>
            </a:prstGeom>
            <ns0:solidFill xmlns:ns0="http://schemas.openxmlformats.org/drawingml/2006/main">
              <ns0:srgbClr val="ECEEF0"/>
            </ns0:solidFill>
            <a:ln xmlns:a="http://schemas.openxmlformats.org/drawingml/2006/main" w="9525">
              <a:solidFill>
                <a:srgbClr val="D3D7DB"/>
              </a:solidFill>
              <a:prstDash val="solid"/>
            </a:ln>
          </p:spPr>
        </p:sp>
        <p:sp>
          <p:nvSpPr>
            <p:cNvPr id="51" name="p6__text51">
              <a:extLst xmlns:a="http://schemas.openxmlformats.org/drawingml/2006/main">
                <a:ext uri="{FF2B5EF4-FFF2-40B4-BE49-F238E27FC236}">
                  <a16:creationId xmlns:a16="http://schemas.microsoft.com/office/drawing/2014/main" id="{AC009132-8F12-4F4D-992E-1AC538CB8B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96700" y="4410075"/>
              <a:ext cx="3009900" cy="3143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950" b="1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Anomaly Card + síntese</a:t>
              </a:r>
            </a:p>
          </p:txBody>
        </p:sp>
        <p:sp>
          <p:nvSpPr>
            <p:cNvPr id="52" name="p6__text52">
              <a:extLst xmlns:a="http://schemas.openxmlformats.org/drawingml/2006/main">
                <a:ext uri="{FF2B5EF4-FFF2-40B4-BE49-F238E27FC236}">
                  <a16:creationId xmlns:a16="http://schemas.microsoft.com/office/drawing/2014/main" id="{B3BC7E47-DDB7-41D4-84F3-EEBC466041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96700" y="4810125"/>
              <a:ext cx="30099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lvl9pPr>
            </a:lstStyle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Evidências estruturadas +</a:t>
              </a:r>
            </a:p>
            <a:p xmlns:a="http://schemas.openxmlformats.org/drawingml/2006/main">
              <a:pPr>
                <a:def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defRPr>
              </a:pPr>
              <a:r>
                <a:rPr sz="1650" b="0">
                  <a:solidFill>
                    <a:srgbClr val="56636E"/>
                  </a:solidFill>
                  <a:latin typeface="Arial"/>
                  <a:ea typeface="Arial"/>
                  <a:cs typeface="Arial"/>
                </a:rPr>
                <a:t>explicação em linguagem natural</a:t>
              </a:r>
            </a:p>
          </p:txBody>
        </p:sp>
        <p:cxnSp>
          <p:nvCxnSpPr>
            <p:cNvPr id="55" name="p6__arrow55">
              <a:extLst xmlns:a="http://schemas.openxmlformats.org/drawingml/2006/main">
                <a:ext uri="{FF2B5EF4-FFF2-40B4-BE49-F238E27FC236}">
                  <a16:creationId xmlns:a16="http://schemas.microsoft.com/office/drawing/2014/main" id="{2C13ACFB-DAAE-4081-9035-FEA8C7D5C101}"/>
                </a:ext>
              </a:extLst>
            </p:cNvPr>
            <p:cNvCxnSpPr/>
            <p:nvPr/>
          </p:nvCxnSpPr>
          <p:spPr>
            <a:xfrm xmlns:a="http://schemas.openxmlformats.org/drawingml/2006/main" flipV="0">
              <a:off x="11201400" y="3009900"/>
              <a:ext cx="2476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  <p:cxnSp>
          <p:nvCxnSpPr>
            <p:cNvPr id="56" name="p6__arrow56">
              <a:extLst xmlns:a="http://schemas.openxmlformats.org/drawingml/2006/main">
                <a:ext uri="{FF2B5EF4-FFF2-40B4-BE49-F238E27FC236}">
                  <a16:creationId xmlns:a16="http://schemas.microsoft.com/office/drawing/2014/main" id="{6BDF683F-2A64-4346-8D2B-3565D2C519DE}"/>
                </a:ext>
              </a:extLst>
            </p:cNvPr>
            <p:cNvCxnSpPr/>
            <p:nvPr/>
          </p:nvCxnSpPr>
          <p:spPr>
            <a:xfrm xmlns:a="http://schemas.openxmlformats.org/drawingml/2006/main" flipV="0">
              <a:off x="13192125" y="3829050"/>
              <a:ext cx="0" cy="3238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A95120"/>
              </a:solidFill>
              <a:prstDash val="solid"/>
              <a:tailEnd type="triangle" w="med" len="med"/>
            </a:ln>
          </p:spPr>
        </p:cxnSp>
        <p:cxnSp>
          <p:nvCxnSpPr>
            <p:cNvPr id="65" name="p6__arrow65">
              <a:extLst xmlns:a="http://schemas.openxmlformats.org/drawingml/2006/main">
                <a:ext uri="{FF2B5EF4-FFF2-40B4-BE49-F238E27FC236}">
                  <a16:creationId xmlns:a16="http://schemas.microsoft.com/office/drawing/2014/main" id="{CDE9284F-6115-4007-896C-CEDF40A079B4}"/>
                </a:ext>
              </a:extLst>
            </p:cNvPr>
            <p:cNvCxnSpPr/>
            <p:nvPr/>
          </p:nvCxnSpPr>
          <p:spPr>
            <a:xfrm xmlns:a="http://schemas.openxmlformats.org/drawingml/2006/main" flipV="1">
              <a:off x="13192125" y="6096000"/>
              <a:ext cx="0" cy="1333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5240">
              <a:solidFill>
                <a:srgbClr val="142E49"/>
              </a:solidFill>
              <a:prstDash val="solid"/>
              <a:tailEnd type="triangle" w="med" len="med"/>
            </a:ln>
          </p:spPr>
        </p:cxnSp>
      </p:grpSp>
      <p:sp>
        <p:nvSpPr>
          <p:cNvPr id="85" name="legend-heading">
            <a:extLst xmlns:a="http://schemas.openxmlformats.org/drawingml/2006/main">
              <a:ext uri="{FF2B5EF4-FFF2-40B4-BE49-F238E27FC236}">
                <a16:creationId xmlns:a16="http://schemas.microsoft.com/office/drawing/2014/main" id="{66B13E87-837B-454B-9022-21A01ED3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86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16D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86" name="legend-Produção">
            <a:extLst xmlns:a="http://schemas.openxmlformats.org/drawingml/2006/main">
              <a:ext uri="{FF2B5EF4-FFF2-40B4-BE49-F238E27FC236}">
                <a16:creationId xmlns:a16="http://schemas.microsoft.com/office/drawing/2014/main" id="{FB67E4E4-A7A0-43FC-91CB-41C1C4F8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7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7"/>
          </a:solidFill>
          <a:ln xmlns:a="http://schemas.openxmlformats.org/drawingml/2006/main" w="9525">
            <a:solidFill>
              <a:srgbClr val="B8D6C4"/>
            </a:solidFill>
            <a:prstDash val="solid"/>
          </a:ln>
        </p:spPr>
      </p:sp>
      <p:sp>
        <p:nvSpPr>
          <p:cNvPr id="87" name="legend-text-Produção">
            <a:extLst xmlns:a="http://schemas.openxmlformats.org/drawingml/2006/main">
              <a:ext uri="{FF2B5EF4-FFF2-40B4-BE49-F238E27FC236}">
                <a16:creationId xmlns:a16="http://schemas.microsoft.com/office/drawing/2014/main" id="{2C8D708B-625B-4714-B6E6-30A8E9BE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8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16D"/>
                </a:solidFill>
                <a:latin typeface="Arial"/>
                <a:ea typeface="Arial"/>
                <a:cs typeface="Arial"/>
              </a:rPr>
              <a:t>Produção</a:t>
            </a:r>
          </a:p>
        </p:txBody>
      </p:sp>
      <p:sp>
        <p:nvSpPr>
          <p:cNvPr id="88" name="legend-Modelagem">
            <a:extLst xmlns:a="http://schemas.openxmlformats.org/drawingml/2006/main">
              <a:ext uri="{FF2B5EF4-FFF2-40B4-BE49-F238E27FC236}">
                <a16:creationId xmlns:a16="http://schemas.microsoft.com/office/drawing/2014/main" id="{95BD87C3-F225-460A-9FB2-3F94DA0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57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D8"/>
          </a:solidFill>
          <a:ln xmlns:a="http://schemas.openxmlformats.org/drawingml/2006/main" w="9525">
            <a:solidFill>
              <a:srgbClr val="E5C4A5"/>
            </a:solidFill>
            <a:prstDash val="solid"/>
          </a:ln>
        </p:spPr>
      </p:sp>
      <p:sp>
        <p:nvSpPr>
          <p:cNvPr id="89" name="legend-text-Modelagem">
            <a:extLst xmlns:a="http://schemas.openxmlformats.org/drawingml/2006/main">
              <a:ext uri="{FF2B5EF4-FFF2-40B4-BE49-F238E27FC236}">
                <a16:creationId xmlns:a16="http://schemas.microsoft.com/office/drawing/2014/main" id="{0682C43C-EB46-4887-AE4F-EF36531E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86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16D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90" name="legend-Em construção">
            <a:extLst xmlns:a="http://schemas.openxmlformats.org/drawingml/2006/main">
              <a:ext uri="{FF2B5EF4-FFF2-40B4-BE49-F238E27FC236}">
                <a16:creationId xmlns:a16="http://schemas.microsoft.com/office/drawing/2014/main" id="{2A85B1AC-7A48-443C-9F17-57E59FE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7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F0"/>
          </a:solidFill>
          <a:ln xmlns:a="http://schemas.openxmlformats.org/drawingml/2006/main" w="9525">
            <a:solidFill>
              <a:srgbClr val="D3D7DB"/>
            </a:solidFill>
            <a:prstDash val="solid"/>
          </a:ln>
        </p:spPr>
      </p:sp>
      <p:sp>
        <p:nvSpPr>
          <p:cNvPr id="91" name="legend-text-Em construção">
            <a:extLst xmlns:a="http://schemas.openxmlformats.org/drawingml/2006/main">
              <a:ext uri="{FF2B5EF4-FFF2-40B4-BE49-F238E27FC236}">
                <a16:creationId xmlns:a16="http://schemas.microsoft.com/office/drawing/2014/main" id="{1BE476AF-BAF7-43D2-8A37-D4C91B87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2286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361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16D"/>
                </a:solidFill>
                <a:latin typeface="Arial"/>
                <a:ea typeface="Arial"/>
                <a:cs typeface="Arial"/>
              </a:rPr>
              <a:t>Em construção</a:t>
            </a:r>
          </a:p>
        </p:txBody>
      </p:sp>
    </p:spTree>
    <p:extLst>
      <p:ext uri="{BB962C8B-B14F-4D97-AF65-F5344CB8AC3E}">
        <p14:creationId xmlns:p14="http://schemas.microsoft.com/office/powerpoint/2010/main" val="6346548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5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35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35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5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35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350"/>
                                  <p:tgtEl>
                                    <p:spTgt spid="8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2026-10-28T16:09:32.2530000Z</dcterms:created>
  <dcterms:modified xsi:type="dcterms:W3CDTF">2026-10-28T16:09:32.2530000Z</dcterms:modified>
</coreProperties>
</file>