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Volume</c:v>
          </c:tx>
          <c:spPr>
            <a:solidFill>
              <a:srgbClr val="D8EF7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325" b="1">
                    <a:solidFill>
                      <a:srgbClr val="E2F889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Antes</c:v>
                </c:pt>
                <c:pt idx="1">
                  <c:v>Depois</c:v>
                </c:pt>
              </c:strCache>
            </c:strRef>
          </c:cat>
          <c:val>
            <c:numRef>
              <c:f>'Chart Data'!$B$2:$B$3</c:f>
              <c:numCache>
                <c:formatCode>0" TB"</c:formatCode>
                <c:ptCount val="2"/>
                <c:pt idx="0">
                  <c:v>80</c:v>
                </c:pt>
                <c:pt idx="1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58B-4BC4-814D-33E5520903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solidFill>
              <a:srgbClr val="E2F889"/>
            </a:solidFill>
          </a:ln>
        </c:spPr>
        <c:txPr>
          <a:bodyPr anchorCtr="1"/>
          <a:lstStyle/>
          <a:p>
            <a:pPr>
              <a:defRPr sz="1875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0"/>
          <c:min val="0"/>
        </c:scaling>
        <c:delete val="0"/>
        <c:axPos val="l"/>
        <c:numFmt formatCode="0&quot; TB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005349"/>
        </a:solidFill>
      </c:spPr>
    </c:plotArea>
    <c:plotVisOnly val="1"/>
    <c:dispBlanksAs val="zero"/>
    <c:showDLblsOverMax val="1"/>
  </c:chart>
  <c:spPr>
    <a:solidFill>
      <a:srgbClr val="005349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Retenção de logs</c:v>
          </c:tx>
          <c:spPr>
            <a:solidFill>
              <a:srgbClr val="09644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325" b="1">
                    <a:solidFill>
                      <a:srgbClr val="18202C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INFO</c:v>
                </c:pt>
                <c:pt idx="1">
                  <c:v>WARN</c:v>
                </c:pt>
                <c:pt idx="2">
                  <c:v>ERROR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0.01</c:v>
                </c:pt>
                <c:pt idx="1">
                  <c:v>0.5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BD-486E-9751-C77DACBDB9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18202C"/>
            </a:solidFill>
          </a:ln>
        </c:spPr>
        <c:txPr>
          <a:bodyPr anchorCtr="1"/>
          <a:lstStyle/>
          <a:p>
            <a:pPr>
              <a:defRPr sz="187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80: 20260915_134627.jpg. Lote 1.</a:t>
            </a:r>
          </a:p>
          <a:p>
            <a:r>
              <a:t>Datadog MCP Server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81: 20260915_134708.jpg. Lote 1.</a:t>
            </a:r>
          </a:p>
          <a:p>
            <a:r>
              <a:t>Erro: tokens esgotados!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82: 20260915_134810.jpg. Lote 1.</a:t>
            </a:r>
          </a:p>
          <a:p>
            <a:r>
              <a:t>Projetando ferramentas MCP para agentes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83: 20260915_134936.jpg. Lote 1.</a:t>
            </a:r>
          </a:p>
          <a:p>
            <a:r>
              <a:t>Como o Datadog MCP Server é usado?</a:t>
            </a:r>
          </a:p>
          <a:p>
            <a:r>
              <a:t>O gráfico da foto não informa os valores individuais das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84: 20260915_135113.jpg. Lote 1.</a:t>
            </a:r>
          </a:p>
          <a:p>
            <a:r>
              <a:t>Análise de logs com MCP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85: 20260915_135227.jpg. Lote 1.</a:t>
            </a:r>
          </a:p>
          <a:p>
            <a:r>
              <a:t>Contexto na configuração do monitor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86: 20260915_135324.jpg. Lote 1.</a:t>
            </a:r>
          </a:p>
          <a:p>
            <a:r>
              <a:t>Bits Investigation e contexto do serviço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87: 20260915_135359.jpg. Lote 1.</a:t>
            </a:r>
          </a:p>
          <a:p>
            <a:r>
              <a:t>O futuro do MCP server do Datadog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89: 20260915_135736.jpg. Lote 1.</a:t>
            </a:r>
          </a:p>
          <a:p>
            <a:r>
              <a:t>Bits AI e MCP Server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90: 20260915_135753.jpg. Lote 1.</a:t>
            </a:r>
          </a:p>
          <a:p>
            <a:r>
              <a:t>Saiba mais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91: 20260915_141647.jpg. Lote 2.</a:t>
            </a:r>
          </a:p>
          <a:p>
            <a:r>
              <a:t>MILHÕES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92: 20260915_141711.jpg. Lote 2.</a:t>
            </a:r>
          </a:p>
          <a:p>
            <a:r>
              <a:t>5 alertas do mesmo problema?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93: 20260915_141736.jpg. Lote 2.</a:t>
            </a:r>
          </a:p>
          <a:p>
            <a:r>
              <a:t>Como transformar padrões em qualidade operacional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94: 20260915_141826.jpg. Lote 2.</a:t>
            </a:r>
          </a:p>
          <a:p>
            <a:r>
              <a:t>Gabriel Kope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95: 20260915_141900.jpg. Lote 2.</a:t>
            </a:r>
          </a:p>
          <a:p>
            <a:r>
              <a:t>Varejo esportivo em escala nacional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96: 20260915_142031.jpg. Lote 2.</a:t>
            </a:r>
          </a:p>
          <a:p>
            <a:r>
              <a:t>O ambiente em números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97: 20260915_142157.jpg. Lote 2.</a:t>
            </a:r>
          </a:p>
          <a:p>
            <a:r>
              <a:t>Cenário fragmentado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98: 20260915_142257.jpg. Lote 2.</a:t>
            </a:r>
          </a:p>
          <a:p>
            <a:r>
              <a:t>War rooms grandes e demoradas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99: 20260915_142427.jpg. Lote 2.</a:t>
            </a:r>
          </a:p>
          <a:p>
            <a:r>
              <a:t>Sem clareza operacional, escala vira ruído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100: 20260915_142454.jpg. Lote 2.</a:t>
            </a:r>
          </a:p>
          <a:p>
            <a:r>
              <a:t>Correlação e produtividade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101: 20260915_142525.jpg. Lote 2.</a:t>
            </a:r>
          </a:p>
          <a:p>
            <a:r>
              <a:t>Correlação e produtividade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102: 20260915_142552.jpg. Lote 2.</a:t>
            </a:r>
          </a:p>
          <a:p>
            <a:r>
              <a:t>“Isso vai ficar inviável, porque Datadog é caro”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103: 20260915_142616.jpg. Lote 2.</a:t>
            </a:r>
          </a:p>
          <a:p>
            <a:r>
              <a:t>Os custos escondidos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104: 20260915_142742.jpg. Lote 2.</a:t>
            </a:r>
          </a:p>
          <a:p>
            <a:r>
              <a:t>De 80 TB a 15 TB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105: 20260915_142844.jpg. Lote 2.</a:t>
            </a:r>
          </a:p>
          <a:p>
            <a:r>
              <a:t>Custo é problema de qualidade de dado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106: 20260915_142915.jpg. Lote 2.</a:t>
            </a:r>
          </a:p>
          <a:p>
            <a:r>
              <a:t>O que entra, e quanto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107: 20260915_143017.jpg. Lote 2.</a:t>
            </a:r>
          </a:p>
          <a:p>
            <a:r>
              <a:t>Observabot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108: 20260915_143045.jpg. Lote 2.</a:t>
            </a:r>
          </a:p>
          <a:p>
            <a:r>
              <a:t>O que é um MCP?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109: 20260915_143109.jpg. Lote 2.</a:t>
            </a:r>
          </a:p>
          <a:p>
            <a:r>
              <a:t>Observabot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110: 20260915_143221.jpg. Lote 2.</a:t>
            </a:r>
          </a:p>
          <a:p>
            <a:r>
              <a:t>Como ele foi feito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111: 20260915_143325.jpg. Lote 2.</a:t>
            </a:r>
          </a:p>
          <a:p>
            <a:r>
              <a:t>Log Score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112: 20260915_143353.jpg. Lote 2.</a:t>
            </a:r>
          </a:p>
          <a:p>
            <a:r>
              <a:t>Análise de log score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113: 20260915_143424.jpg. Lote 2.</a:t>
            </a:r>
          </a:p>
          <a:p>
            <a:r>
              <a:t>Monitor Score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114: 20260915_143503.jpg. Lote 2.</a:t>
            </a:r>
          </a:p>
          <a:p>
            <a:r>
              <a:t>Análise de monitor score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115: 20260915_143524.jpg. Lote 2.</a:t>
            </a:r>
          </a:p>
          <a:p>
            <a:r>
              <a:t>Análise de índices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116: 20260915_143611.jpg. Lote 2.</a:t>
            </a:r>
          </a:p>
          <a:p>
            <a:r>
              <a:t>Análise de volume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117: 20260915_143649.jpg. Lote 2.</a:t>
            </a:r>
          </a:p>
          <a:p>
            <a:r>
              <a:t>De onde vêm as regras?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118: 20260915_143657.jpg. Lote 2.</a:t>
            </a:r>
          </a:p>
          <a:p>
            <a:r>
              <a:t>Fim do “eu acho”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119: 20260915_143809.jpg. Lote 2.</a:t>
            </a:r>
          </a:p>
          <a:p>
            <a:r>
              <a:t>Em busca do diamante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120: 20260915_143903.jpg. Lote 2.</a:t>
            </a:r>
          </a:p>
          <a:p>
            <a:r>
              <a:t>O que é Diamond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121: 20260915_143914.jpg. Lote 2.</a:t>
            </a:r>
          </a:p>
          <a:p>
            <a:r>
              <a:t>Quem observa o observabot?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122: 20260915_143949.jpg. Lote 2.</a:t>
            </a:r>
          </a:p>
          <a:p>
            <a:r>
              <a:t>Observabilidade do Observabot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123: 20260915_144021.jpg. Lote 2.</a:t>
            </a:r>
          </a:p>
          <a:p>
            <a:r>
              <a:t>Observabilidade do Observabot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124: 20260915_144108.jpg. Lote 2.</a:t>
            </a:r>
          </a:p>
          <a:p>
            <a:r>
              <a:t>Lições aprendidas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127: 20260915_144300.jpg. Lote 2.</a:t>
            </a:r>
          </a:p>
          <a:p>
            <a:r>
              <a:t>Lições aprendidas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128: 20260915_144358.jpg. Lote 2.</a:t>
            </a:r>
          </a:p>
          <a:p>
            <a:r>
              <a:t>Obrigado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129: 20260915_144801.jpg. Lote 3.</a:t>
            </a:r>
          </a:p>
          <a:p>
            <a:r>
              <a:t>SESSÃO · 2 MIN 18 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130: 20260915_144818.jpg. Lote 3.</a:t>
            </a:r>
          </a:p>
          <a:p>
            <a:r>
              <a:t>Consultar o saldo e fazer um PIX devem ter a mesma criticidade?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131: 20260915_144902.jpg. Lote 3.</a:t>
            </a:r>
          </a:p>
          <a:p>
            <a:r>
              <a:t>Como tornar a amostragem de RUM mais inteligente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132: 20260915_144916.jpg. Lote 3.</a:t>
            </a:r>
          </a:p>
          <a:p>
            <a:r>
              <a:t>Quem somos?</a:t>
            </a:r>
          </a:p>
          <a:p>
            <a:r>
              <a:t>Último rótulo parcialmente encoberto pelo apresentador. Não atribuir uma definição sem a fonte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133: 20260915_145010.jpg. Lote 3.</a:t>
            </a:r>
          </a:p>
          <a:p>
            <a:r>
              <a:t>A ideia central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134: 20260915_145026.jpg. Lote 3.</a:t>
            </a:r>
          </a:p>
          <a:p>
            <a:r>
              <a:t>Escala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135: 20260915_145054.jpg. Lote 3.</a:t>
            </a:r>
          </a:p>
          <a:p>
            <a:r>
              <a:t>Nessa escala, decisões aparentemente simples se tornam decisões importantes de arquitetura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136: 20260915_145109.jpg. Lote 3.</a:t>
            </a:r>
          </a:p>
          <a:p>
            <a:r>
              <a:t>O problema de observabilidade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137: 20260915_145136.jpg. Lote 3.</a:t>
            </a:r>
          </a:p>
          <a:p>
            <a:r>
              <a:t>Amostragem aleatória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138: 20260915_145206.jpg. Lote 3.</a:t>
            </a:r>
          </a:p>
          <a:p>
            <a:r>
              <a:t>Como reduzir o volume de telemetria sem perder justamente as sessões que mais importam?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139: 20260915_145218.jpg. Lote 3.</a:t>
            </a:r>
          </a:p>
          <a:p>
            <a:r>
              <a:t>O BTG não trata todas as sessões da mesma forma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140: 20260915_145311.jpg. Lote 3.</a:t>
            </a:r>
          </a:p>
          <a:p>
            <a:r>
              <a:t>Nem sempre sabemos, no início da sessão, se ela será importante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141: 20260915_145321.jpg. Lote 3.</a:t>
            </a:r>
          </a:p>
          <a:p>
            <a:r>
              <a:t>Como funciona tecnicamente?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142: 20260915_145448.jpg. Lote 3.</a:t>
            </a:r>
          </a:p>
          <a:p>
            <a:r>
              <a:t>Do dispositivo para a Datadog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143: 20260915_145658.jpg. Lote 3.</a:t>
            </a:r>
          </a:p>
          <a:p>
            <a:r>
              <a:t>Preservar o contexto anterior à falha é exatamente o que os engenheiros precisam para entender o problema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144: 20260915_145727.jpg. Lote 3.</a:t>
            </a:r>
          </a:p>
          <a:p>
            <a:r>
              <a:t>O que essa abordagem possibilitou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145: 20260915_145851.jpg. Lote 3.</a:t>
            </a:r>
          </a:p>
          <a:p>
            <a:r>
              <a:t>Uso estimado de sessões do RUM</a:t>
            </a:r>
          </a:p>
          <a:p>
            <a:r>
              <a:t>Série temporal preservada na captura por ausência dos valores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146: 20260915_150037.jpg. Lote 3.</a:t>
            </a:r>
          </a:p>
          <a:p>
            <a:r>
              <a:t>Impacto qualitativo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147: 20260915_150123.jpg. Lote 3.</a:t>
            </a:r>
          </a:p>
          <a:p>
            <a:r>
              <a:t>Aprendizados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148: 20260915_150410.jpg. Lote 3.</a:t>
            </a:r>
          </a:p>
          <a:p>
            <a:r>
              <a:t>O objetivo nunca foi coletar menos dados. Foi coletar os dados certos.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149: 20260915_153724.jpg. Lote 4.</a:t>
            </a:r>
          </a:p>
          <a:p>
            <a:r>
              <a:t>A evolução do Datadog Agent para uma camada de execução de IA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150: 20260915_153828.jpg. Lote 4.</a:t>
            </a:r>
          </a:p>
          <a:p>
            <a:r>
              <a:t>Instalação e integrações</a:t>
            </a:r>
          </a:p>
          <a:p>
            <a:r>
              <a:t>A terceira etapa aparece cortada no lado direito da fotografia.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151: 20260915_153902.jpg. Lote 4.</a:t>
            </a:r>
          </a:p>
          <a:p>
            <a:r>
              <a:t>DogStatsD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152: 20260915_153955.jpg. Lote 4.</a:t>
            </a:r>
          </a:p>
          <a:p>
            <a:r>
              <a:t>A origem do agente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153: 20260915_154049.jpg. Lote 4.</a:t>
            </a:r>
          </a:p>
          <a:p>
            <a:r>
              <a:t>Hosts, contêineres e Kubernetes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154: 20260915_154102.jpg. Lote 4.</a:t>
            </a:r>
          </a:p>
          <a:p>
            <a:r>
              <a:t>Datadog no Kubernetes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155: 20260915_154139.jpg. Lote 4.</a:t>
            </a:r>
          </a:p>
          <a:p>
            <a:r>
              <a:t>De hosts para infraestrutura dinâmica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156: 20260915_154246.jpg. Lote 4.</a:t>
            </a:r>
          </a:p>
          <a:p>
            <a:r>
              <a:t>Ambientes serverless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157: 20260915_154344.jpg. Lote 4.</a:t>
            </a:r>
          </a:p>
          <a:p>
            <a:r>
              <a:t>AWS Lambda e Datadog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158: 20260915_154422.jpg. Lote 4.</a:t>
            </a:r>
          </a:p>
          <a:p>
            <a:r>
              <a:t>Instrumenting AWS serverless applications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159: 20260915_154521.jpg. Lote 4.</a:t>
            </a:r>
          </a:p>
          <a:p>
            <a:r>
              <a:t>Observabilidade de funções serverless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160: 20260915_154556.jpg. Lote 4.</a:t>
            </a:r>
          </a:p>
          <a:p>
            <a:r>
              <a:t>Um mundo sem servidores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161: 20260915_154626.jpg. Lote 4.</a:t>
            </a:r>
          </a:p>
          <a:p>
            <a:r>
              <a:t>Processar logs em grande escala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162: 20260915_154711.jpg. Lote 4.</a:t>
            </a:r>
          </a:p>
          <a:p>
            <a:r>
              <a:t>Regras de processamento de logs</a:t>
            </a:r>
          </a:p>
          <a:p>
            <a:r>
              <a:t>A expressão regular está truncada na própria fotografia. O trecho não constitui uma configuração pronta para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163: 20260915_154812.jpg. Lote 4.</a:t>
            </a:r>
          </a:p>
          <a:p>
            <a:r>
              <a:t>Configurações distribuídas de logs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164: 20260915_154843.jpg. Lote 4.</a:t>
            </a:r>
          </a:p>
          <a:p>
            <a:r>
              <a:t>Controle de configuração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165: 20260915_154926.jpg. Lote 4.</a:t>
            </a:r>
          </a:p>
          <a:p>
            <a:r>
              <a:t>Pipeline de processamento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166: 20260915_154952.jpg. Lote 4.</a:t>
            </a:r>
          </a:p>
          <a:p>
            <a:r>
              <a:t>Gerenciar agentes em grande escala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167: 20260915_155046.jpg. Lote 4.</a:t>
            </a:r>
          </a:p>
          <a:p>
            <a:r>
              <a:t>OpenTelemetry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168: 20260915_155205.jpg. Lote 4.</a:t>
            </a:r>
          </a:p>
          <a:p>
            <a:r>
              <a:t>OpenTelemetry Collector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169: 20260915_155229.jpg. Lote 4.</a:t>
            </a:r>
          </a:p>
          <a:p>
            <a:r>
              <a:t>OpenTelemetry Collector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170: 20260915_155241.jpg. Lote 4.</a:t>
            </a:r>
          </a:p>
          <a:p>
            <a:r>
              <a:t>OpenTelemetry Collector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171: 20260915_155313.jpg. Lote 4.</a:t>
            </a:r>
          </a:p>
          <a:p>
            <a:r>
              <a:t>Datadog Agent e DDOT Collector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172: 20260915_155353.jpg. Lote 4.</a:t>
            </a:r>
          </a:p>
          <a:p>
            <a:r>
              <a:t>Suporte a padrões abertos: OpenTelemetry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173: 20260915_155501.jpg. Lote 4.</a:t>
            </a:r>
          </a:p>
          <a:p>
            <a:r>
              <a:t>Workflow de reinício com ArgoCD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174: 20260915_155555.jpg. Lote 4.</a:t>
            </a:r>
          </a:p>
          <a:p>
            <a:r>
              <a:t>Private Action Runner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175: 20260915_155631.jpg. Lote 4.</a:t>
            </a:r>
          </a:p>
          <a:p>
            <a:r>
              <a:t>Realização de ações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176: 20260915_155843.jpg. Lote 4.</a:t>
            </a:r>
          </a:p>
          <a:p>
            <a:r>
              <a:t>Futuro agêntico do agente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Datadog Summit São Paulo. Foto 177: 20260915_155948.jpg. Lote 4.</a:t>
            </a:r>
          </a:p>
          <a:p>
            <a:r>
              <a:t>Linha do tempo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24B8001-C8DB-4BF8-A087-A69DD1A7F8B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Datadog MCP Server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53E820-EF82-4E8C-9BA1-F5272360A58F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Seus agentes de 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22269EC-346B-46EB-ACE5-53A8276E2D31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MCP Server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8F5E1F-46A9-413C-A72D-C6BE458DB3EB}"/>
              </a:ext>
            </a:extLst>
          </p:cNvPr>
          <p:cNvSpPr>
            <a:spLocks noGrp="1"/>
          </p:cNvSpPr>
          <p:nvPr/>
        </p:nvSpPr>
        <p:spPr>
          <a:xfrm>
            <a:off x="823912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Logs, métricas, traces, erros, eventos e incidentes</a:t>
            </a:r>
          </a:p>
        </p:txBody>
      </p:sp>
      <p:cxnSp>
        <p:nvCxnSpPr>
          <p:cNvPr id="13" name="Conector de Seta Reta 12"/>
          <p:cNvCxnSpPr>
            <a:stCxn id="2" idx="3"/>
            <a:endCxn id="3" idx="1"/>
          </p:cNvCxnSpPr>
          <p:nvPr/>
        </p:nvCxnSpPr>
        <p:spPr>
          <a:xfrm>
            <a:off x="3952875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cxnSp>
        <p:nvCxnSpPr>
          <p:cNvPr id="14" name="Conector de Seta Reta 13"/>
          <p:cNvCxnSpPr>
            <a:stCxn id="3" idx="3"/>
            <a:endCxn id="4" idx="1"/>
          </p:cNvCxnSpPr>
          <p:nvPr/>
        </p:nvCxnSpPr>
        <p:spPr>
          <a:xfrm>
            <a:off x="7620000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EACB21EA-A099-41A8-A529-DCD41EFB1BF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94ABDFE-CDC6-4239-9F91-62A4D890345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30574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DBC4F58-144F-46C8-ADD2-B2B06DA791F4}"/>
              </a:ext>
            </a:extLst>
          </p:cNvPr>
          <p:cNvSpPr>
            <a:spLocks noGrp="1"/>
          </p:cNvSpPr>
          <p:nvPr/>
        </p:nvSpPr>
        <p:spPr>
          <a:xfrm>
            <a:off x="914400" y="109537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Erro: tokens esgotados!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91468" y="3095625"/>
            <a:ext cx="3409064" cy="25717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FAA32E7-2C89-4D1F-965D-8CAD12532774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2B23DC-9983-440A-9283-92493912EDA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1852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AED1289-CA59-4263-9B63-C137575BD3D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Projetando ferramentas MCP para agentes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266950"/>
            <a:ext cx="8572500" cy="30861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9750" y="3652242"/>
            <a:ext cx="2095500" cy="203001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A43A492-BF66-4CB2-8025-A4E438D3065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3B00747-0642-47C8-AF7F-A6EB5F71122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62282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7997B17D-23E4-4FE2-9DA9-6A45E88F36C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Como o Datadog MCP Server é usado?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00625" y="2060674"/>
            <a:ext cx="6524625" cy="367010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9EAE8B4-47ED-47D7-85CC-3B964ABA2A55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348.49k no total apresentado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F5B25C-AE58-40A1-8DA4-289455E67ABB}"/>
              </a:ext>
            </a:extLst>
          </p:cNvPr>
          <p:cNvSpPr>
            <a:spLocks noGrp="1"/>
          </p:cNvSpPr>
          <p:nvPr/>
        </p:nvSpPr>
        <p:spPr>
          <a:xfrm>
            <a:off x="647700" y="230505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Diagnosticar erros e falhas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A0EBA3-3710-4067-B075-D1AEE4765240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Diagnosticar latência e degradação de desempenho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5FB435E-F6D8-47D5-A02B-A50FD88C9074}"/>
              </a:ext>
            </a:extLst>
          </p:cNvPr>
          <p:cNvSpPr>
            <a:spLocks noGrp="1"/>
          </p:cNvSpPr>
          <p:nvPr/>
        </p:nvSpPr>
        <p:spPr>
          <a:xfrm>
            <a:off x="647700" y="348615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Analisar e resumir a saúde operacional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2FE90A-C775-4E5E-8FDF-51AED46DC1B0}"/>
              </a:ext>
            </a:extLst>
          </p:cNvPr>
          <p:cNvSpPr>
            <a:spLocks noGrp="1"/>
          </p:cNvSpPr>
          <p:nvPr/>
        </p:nvSpPr>
        <p:spPr>
          <a:xfrm>
            <a:off x="647700" y="40767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Diagnosticar saturação de recursos e infraestrutura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D5B7035-7739-4397-9C8E-2F10791109A5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Configurar ativos de observabilidade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09F9E0-4225-4D0C-95C8-159C821B64BF}"/>
              </a:ext>
            </a:extLst>
          </p:cNvPr>
          <p:cNvSpPr>
            <a:spLocks noGrp="1"/>
          </p:cNvSpPr>
          <p:nvPr/>
        </p:nvSpPr>
        <p:spPr>
          <a:xfrm>
            <a:off x="647700" y="52578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Rastrear implantação e impacto de alterações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2764BD1-3A2E-4629-B80D-CB44E99456C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C4E78-B9B0-47D0-87C1-3FCE1D48603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9981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ACCDDD7-C921-41A8-9AA1-EC99D1A7EA4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Análise de logs com MCP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49DACDE-0F9D-4EDD-9E27-EFEE15C759A9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Resumo de erros por serviço   ·   Série temporal dos erros   ·   Links diretos para os dados no Datadog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76783FB-90DF-4871-9CEA-8BBEDBF3AF9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3BD2E6-D0EB-4001-A686-63B4F6E762C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3279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688D131-E17E-42E7-8331-1024F0C29EE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Contexto na configuração do monitor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0150AC-86D4-4D76-B4BA-6170B54BB427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Comparação entre mensagens de monitor   ·   Orientações de investigação e resposta incorporadas à configuração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9AC895-54F5-497F-88B0-9D08B0E35FE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D984CF-5710-464F-9180-3DFF7783F349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34251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0F58C17-09A2-40F7-8A88-4E4777A8834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Bits Investigation e contexto do serviço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04CD6CD-1854-42CF-A35A-9847CFE3BD99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Árvore de hipóteses da investigação   ·   Pergunta no chat: “Who owns the flight-db?”   ·   Resposta: o serviço pertence ao time bits-airlines-ops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AF0067-6CC1-4BA4-BADD-30B74E88B84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48BCB24-C259-4563-BAE5-E57B92C1750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35039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22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A2A138D-0138-4622-8112-5971BAF0AB90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futuro do MCP server do Datadog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99DD72-6E6B-497F-9354-1FF2DDD8760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61E6B7-AF5E-4033-B4E6-3F516A5DD19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428012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A953995-C703-408F-A804-679D85B59C9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Bits AI e MCP Server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E54074-E5E2-457A-8BED-E50962D0DAE0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Bits AI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2857C8-0C1C-4617-BAA1-745B2353616C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Prontidão desde o 1º dia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E7ED23-5225-4FB2-8E3A-64D41FCD9290}"/>
              </a:ext>
            </a:extLst>
          </p:cNvPr>
          <p:cNvSpPr>
            <a:spLocks noGrp="1"/>
          </p:cNvSpPr>
          <p:nvPr/>
        </p:nvSpPr>
        <p:spPr>
          <a:xfrm>
            <a:off x="704850" y="315277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Alta precisão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EAB315-4ED0-469C-9119-551AD8709A04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Evals rigorosos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022AE4-D2A5-4E6C-80DA-9AC885DEDBC0}"/>
              </a:ext>
            </a:extLst>
          </p:cNvPr>
          <p:cNvSpPr>
            <a:spLocks noGrp="1"/>
          </p:cNvSpPr>
          <p:nvPr/>
        </p:nvSpPr>
        <p:spPr>
          <a:xfrm>
            <a:off x="704850" y="435292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Contexto e colaboração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6FE5065-C75E-4A8B-8A4B-DD8F2AF5842B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MCP Server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A09FABA-34B9-4E2C-AF06-D32893624A52}"/>
              </a:ext>
            </a:extLst>
          </p:cNvPr>
          <p:cNvSpPr>
            <a:spLocks noGrp="1"/>
          </p:cNvSpPr>
          <p:nvPr/>
        </p:nvSpPr>
        <p:spPr>
          <a:xfrm>
            <a:off x="62674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Configuração e uso fáceis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DFA84B5-BA62-4CD3-9A27-7774FF157179}"/>
              </a:ext>
            </a:extLst>
          </p:cNvPr>
          <p:cNvSpPr>
            <a:spLocks noGrp="1"/>
          </p:cNvSpPr>
          <p:nvPr/>
        </p:nvSpPr>
        <p:spPr>
          <a:xfrm>
            <a:off x="6267450" y="315277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Telemetria e muito mais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DDC250-10DF-413B-8DA6-3049AC2D369F}"/>
              </a:ext>
            </a:extLst>
          </p:cNvPr>
          <p:cNvSpPr>
            <a:spLocks noGrp="1"/>
          </p:cNvSpPr>
          <p:nvPr/>
        </p:nvSpPr>
        <p:spPr>
          <a:xfrm>
            <a:off x="6267450" y="375285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Recursos inovadores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617D7E5-796B-44EF-BCB2-8DB3D57BB675}"/>
              </a:ext>
            </a:extLst>
          </p:cNvPr>
          <p:cNvSpPr>
            <a:spLocks noGrp="1"/>
          </p:cNvSpPr>
          <p:nvPr/>
        </p:nvSpPr>
        <p:spPr>
          <a:xfrm>
            <a:off x="6267450" y="435292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Expertise incorporada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3C6F8E5-8C04-4C54-9F1F-AE95A9F29A2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DB1DEF-2CCB-4C88-BC84-52E564B48569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19718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22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07144A9-2367-43DC-8D83-2C61811035B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Saiba mais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425117-611E-489D-8642-BB25394CEAB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Comece a usar o Bits Chat e o Bits Investigation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docs.datadoghq.com/bits_ai/bits_chat/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docs.datadoghq.com/bits_ai/bits_investigation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F47648-89B7-499F-8A5F-91B267E9157A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04775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 um MCP server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datadoghq.com/knowledge-center/mcp-server/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F88743-8769-4177-8354-0B03A72A62B3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04775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Projetando ferramentas MCP para agentes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datadoghq.com/blog/engineering/mcp-server-agent-tools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295CDE-4507-4FBF-8FC8-DBF3A19CCE9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C592982-7DF3-4EFC-8610-5C793131E71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106180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C8CFF42-6A4D-4D86-B7F4-6C407AC9ADF8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MILHÕES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4061B6-04BF-4796-A3E3-68AB4AB91FB2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9715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LOGS, POR DIA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AE290D-538D-4288-8C07-093444E9092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E4F4EB-DEC2-47EC-8230-A651C42B8B5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65070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62075A0-8516-41E9-88DE-76F4B6F1060E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5 alertas do mesmo problema?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C5731E-A9B9-4A59-B3D8-B2804B51088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6424ED-BA91-4F92-B1C5-60C742F2FA0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829575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1E7C37F-7242-4C18-942D-290840D46FFE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Como transformar padrões em qualidade operacional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5359C8B-28DB-4632-9A35-843FD087EA23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9715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OBSERVABOT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ADBC20-3E5D-49BB-A087-9F0950A492C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797720-ED1B-4099-A2F5-3C0EEDFF9BE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84730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AEB1AE55-2248-499C-BD04-AE9C9600502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Gabriel Kope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726B2D-223F-452F-9061-0E3FE583630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Platform Engineering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A6A6E9-5BED-4880-A929-3514C5E0DCF0}"/>
              </a:ext>
            </a:extLst>
          </p:cNvPr>
          <p:cNvSpPr>
            <a:spLocks noGrp="1"/>
          </p:cNvSpPr>
          <p:nvPr/>
        </p:nvSpPr>
        <p:spPr>
          <a:xfrm>
            <a:off x="3905250" y="23050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+15 anos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7F5769-F094-4227-A3B9-9C123FB34C4A}"/>
              </a:ext>
            </a:extLst>
          </p:cNvPr>
          <p:cNvSpPr>
            <a:spLocks noGrp="1"/>
          </p:cNvSpPr>
          <p:nvPr/>
        </p:nvSpPr>
        <p:spPr>
          <a:xfrm>
            <a:off x="3905250" y="3048000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De experiência na área de tecnologia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7D0785-FB49-4380-9608-0DA07F465AE9}"/>
              </a:ext>
            </a:extLst>
          </p:cNvPr>
          <p:cNvSpPr>
            <a:spLocks noGrp="1"/>
          </p:cNvSpPr>
          <p:nvPr/>
        </p:nvSpPr>
        <p:spPr>
          <a:xfrm>
            <a:off x="7791450" y="23050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DevEx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60795AA-2D59-4C10-8077-ECC95C8CADA2}"/>
              </a:ext>
            </a:extLst>
          </p:cNvPr>
          <p:cNvSpPr>
            <a:spLocks noGrp="1"/>
          </p:cNvSpPr>
          <p:nvPr/>
        </p:nvSpPr>
        <p:spPr>
          <a:xfrm>
            <a:off x="7791450" y="3048000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Focado em Developer Experience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396E3C-D8E6-47C3-A440-E75DAA92242E}"/>
              </a:ext>
            </a:extLst>
          </p:cNvPr>
          <p:cNvSpPr>
            <a:spLocks noGrp="1"/>
          </p:cNvSpPr>
          <p:nvPr/>
        </p:nvSpPr>
        <p:spPr>
          <a:xfrm>
            <a:off x="3905250" y="3971925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Especialidades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6F5A89-B1A2-4CD9-9C4F-F8875A629D6A}"/>
              </a:ext>
            </a:extLst>
          </p:cNvPr>
          <p:cNvSpPr>
            <a:spLocks noGrp="1"/>
          </p:cNvSpPr>
          <p:nvPr/>
        </p:nvSpPr>
        <p:spPr>
          <a:xfrm>
            <a:off x="3905250" y="4714875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Observabilidade e Kubernetes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D1F077-FCDB-4EC0-B2DB-36532BF6534A}"/>
              </a:ext>
            </a:extLst>
          </p:cNvPr>
          <p:cNvSpPr>
            <a:spLocks noGrp="1"/>
          </p:cNvSpPr>
          <p:nvPr/>
        </p:nvSpPr>
        <p:spPr>
          <a:xfrm>
            <a:off x="7791450" y="3971925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Hobbies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8218E3-89AD-467D-ABD1-0CC2D8EF1094}"/>
              </a:ext>
            </a:extLst>
          </p:cNvPr>
          <p:cNvSpPr>
            <a:spLocks noGrp="1"/>
          </p:cNvSpPr>
          <p:nvPr/>
        </p:nvSpPr>
        <p:spPr>
          <a:xfrm>
            <a:off x="7791450" y="4714875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Gamer nas horas vagas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3211" y="2209800"/>
            <a:ext cx="2161702" cy="28575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70212" y="5181600"/>
            <a:ext cx="1050551" cy="1190625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B00C959C-CAE8-4537-B1D1-D6E5207AAC9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C39F94F-6DE0-4819-A9CD-55A34177769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65130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83FEEB7-6390-4B68-B69A-C1862C141CA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Varejo esportivo em escala nacional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A43052-B417-453F-9B1C-4921B2DF009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84175EB-8B50-4D3D-908E-7651E119B3CF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0477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Dona da Centauro e da Fisia, representante oficial da Nike no Brasil.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BB2B30C-D72F-448B-9AB6-408E92EB01F3}"/>
              </a:ext>
            </a:extLst>
          </p:cNvPr>
          <p:cNvSpPr>
            <a:spLocks noGrp="1"/>
          </p:cNvSpPr>
          <p:nvPr/>
        </p:nvSpPr>
        <p:spPr>
          <a:xfrm>
            <a:off x="762000" y="3240881"/>
            <a:ext cx="10477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Centauro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4D1700-E744-48BA-8873-F286273079F7}"/>
              </a:ext>
            </a:extLst>
          </p:cNvPr>
          <p:cNvSpPr>
            <a:spLocks noGrp="1"/>
          </p:cNvSpPr>
          <p:nvPr/>
        </p:nvSpPr>
        <p:spPr>
          <a:xfrm>
            <a:off x="762000" y="4176713"/>
            <a:ext cx="10477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Fisia – Nike Brasil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72E732F-D508-41F6-9988-68AE316D11E3}"/>
              </a:ext>
            </a:extLst>
          </p:cNvPr>
          <p:cNvSpPr>
            <a:spLocks noGrp="1"/>
          </p:cNvSpPr>
          <p:nvPr/>
        </p:nvSpPr>
        <p:spPr>
          <a:xfrm>
            <a:off x="762000" y="5112544"/>
            <a:ext cx="10477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Datas comemorativas e Black Friday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535F10-75BF-4B7D-980C-07CD860BECA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EEBCBE-E4C5-4564-8BD8-8B06445CE78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222376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EC26A6E-6ED3-4608-9F07-C3A118C1C87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ambiente em números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AFADC4C-6958-4C16-BC37-98AFC36970DB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82910F-60E1-4A3E-88D5-6C7607A08188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clusters produtivos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C0EF9A-4C67-404F-B4A1-3E4771AD963C}"/>
              </a:ext>
            </a:extLst>
          </p:cNvPr>
          <p:cNvSpPr>
            <a:spLocks noGrp="1"/>
          </p:cNvSpPr>
          <p:nvPr/>
        </p:nvSpPr>
        <p:spPr>
          <a:xfrm>
            <a:off x="43053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~900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C204C5-A906-47BE-982D-A0DC8D8E0717}"/>
              </a:ext>
            </a:extLst>
          </p:cNvPr>
          <p:cNvSpPr>
            <a:spLocks noGrp="1"/>
          </p:cNvSpPr>
          <p:nvPr/>
        </p:nvSpPr>
        <p:spPr>
          <a:xfrm>
            <a:off x="43053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microsserviços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D380FD-304F-4E00-8EF1-C70A64224123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~300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914832A-615A-4430-A307-72FB145D53E5}"/>
              </a:ext>
            </a:extLst>
          </p:cNvPr>
          <p:cNvSpPr>
            <a:spLocks noGrp="1"/>
          </p:cNvSpPr>
          <p:nvPr/>
        </p:nvSpPr>
        <p:spPr>
          <a:xfrm>
            <a:off x="78867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usuários na plataforma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CA2AA8-93BA-4D0E-A442-DE2BDB2FF994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4F7A13F-8227-41E3-90F0-8EFECCE833D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65662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20E5554A-0D7D-4F73-B2AF-69D500BA47B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Cenário fragmentado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741BC0-D795-4198-B8C7-C868D38C22F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Múltiplas ferramentas isoladas sem centralização de observabilidade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AD9537-499D-4A7A-98B3-BBF9126E5843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Sentry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529A7A-57B8-4763-86F5-4635A0F804F4}"/>
              </a:ext>
            </a:extLst>
          </p:cNvPr>
          <p:cNvSpPr>
            <a:spLocks noGrp="1"/>
          </p:cNvSpPr>
          <p:nvPr/>
        </p:nvSpPr>
        <p:spPr>
          <a:xfrm>
            <a:off x="4572000" y="2305050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454AEE8-8747-4496-A90E-308D71DE0983}"/>
              </a:ext>
            </a:extLst>
          </p:cNvPr>
          <p:cNvSpPr>
            <a:spLocks noGrp="1"/>
          </p:cNvSpPr>
          <p:nvPr/>
        </p:nvSpPr>
        <p:spPr>
          <a:xfrm>
            <a:off x="762000" y="3240881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Prometheus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CAC09D-DACD-41CB-83E4-31A4DCBD65FD}"/>
              </a:ext>
            </a:extLst>
          </p:cNvPr>
          <p:cNvSpPr>
            <a:spLocks noGrp="1"/>
          </p:cNvSpPr>
          <p:nvPr/>
        </p:nvSpPr>
        <p:spPr>
          <a:xfrm>
            <a:off x="4572000" y="3240881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D44E1B2-9F48-4AB6-995F-0EE1C8826B3D}"/>
              </a:ext>
            </a:extLst>
          </p:cNvPr>
          <p:cNvSpPr>
            <a:spLocks noGrp="1"/>
          </p:cNvSpPr>
          <p:nvPr/>
        </p:nvSpPr>
        <p:spPr>
          <a:xfrm>
            <a:off x="762000" y="4176713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B0C758-E5F2-43F7-8957-C4DAF1FEBE60}"/>
              </a:ext>
            </a:extLst>
          </p:cNvPr>
          <p:cNvSpPr>
            <a:spLocks noGrp="1"/>
          </p:cNvSpPr>
          <p:nvPr/>
        </p:nvSpPr>
        <p:spPr>
          <a:xfrm>
            <a:off x="4572000" y="4176713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Looker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82DFB67-C62D-4C4D-8E9D-C3BA1ED339A8}"/>
              </a:ext>
            </a:extLst>
          </p:cNvPr>
          <p:cNvSpPr>
            <a:spLocks noGrp="1"/>
          </p:cNvSpPr>
          <p:nvPr/>
        </p:nvSpPr>
        <p:spPr>
          <a:xfrm>
            <a:off x="762000" y="5112544"/>
            <a:ext cx="3238500" cy="84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PagerDuty</a:t>
            </a: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2633216"/>
            <a:ext cx="2838450" cy="2439293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F3B9F44-C93F-4A69-8277-5EE9DA96432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9FF4C5-AF9D-4BB4-96E8-388F6F68E11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37755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16A3E4B-7EA6-4429-AE86-5B481F310E6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War rooms grandes e demoradas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29C2DE-D562-4315-ACF2-6DFAC3577D1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Entrava muita gente na chamada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AD1261C-DD7F-4252-896B-77FBDAB0D7AB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Correlacionar frontend e backend era manual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106C10-28F5-4FF9-BE7A-CA729ABECAEA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tempo de resolução sofria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2353590"/>
            <a:ext cx="2838450" cy="299854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67A3CC3-509B-42C8-9257-E3BE2CAC7B9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59D605-7353-4ED6-A67F-C5C69C214AB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513177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573F61F-E39B-43C6-8FDD-DC06FC68D0AC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Sem clareza operacional, escala vira ruído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63872D-99C4-47D7-B8B3-5035C861C3F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B5B0A9C-68F5-4E8C-8545-58AC609A816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380493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A939C56-9756-4E67-89FB-3D441C27DF6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Correlação e produtividade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2DEE51-71AA-4A4D-B0C6-17E78A1137BC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1DE1FA-DBC6-446A-8B74-84ABC1964FA2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Pular de ferramenta em ferramenta para montar a história do incidente na cabeça.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CA7FC4-0B69-42D8-9101-78FD62B8081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8C8DA5-7988-4C94-A924-69235ADB56E0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011896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B1CA01C-0F0F-4649-BAC6-864361D1C2B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Correlação e produtividade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ACB725E-84E2-4854-BFCA-7320126C0A54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C69978-075B-463C-B2B0-F7B45BA739C5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Pular de ferramenta em ferramenta para montar a história do incidente na cabeça.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7AA9C4-711C-4008-A1CB-CDFC3CA15058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BE07C4-5B8D-41AB-96D0-09C0D7537AC4}"/>
              </a:ext>
            </a:extLst>
          </p:cNvPr>
          <p:cNvSpPr>
            <a:spLocks noGrp="1"/>
          </p:cNvSpPr>
          <p:nvPr/>
        </p:nvSpPr>
        <p:spPr>
          <a:xfrm>
            <a:off x="62674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Log, métrica, trace e alerta no mesmo lugar, correlacionados por serviço e por time.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D0B776-1380-4F7A-86B2-8504008D9D7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8319552-8F57-4351-BCB2-AD3AB489774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983125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59B020-6F0B-4DB6-822B-70A0AC05F5F1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“Isso vai ficar inviável, porque Datadog é caro”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1D5336-6DCE-49D7-9EC9-1BD6E4C41BD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87E62B-90A5-4A23-AEA7-96882B38D6F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928665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C26FA0E-E72F-44A5-8D04-242BB74CB27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Os custos escondidos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66CD0F-7E8C-4F38-AA8C-7B7BC9679E9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Pessoas dedicadas à manutenção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7F0B87-54C3-40D6-9F6D-EF58FCA2E91D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Onboarding de novos engenheiros em cada stack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B5B273-E8E0-4FFA-B273-9EBECD5700D4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Infraestrutura para rodar cada ferramenta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37677" y="2114550"/>
            <a:ext cx="2508097" cy="34766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9CBB432-032F-4C09-A84E-BB5B095BE52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80D0EE-DDED-4C4C-B083-354EA779845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781687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F16CFA2-3C33-44C8-AD7D-F846BF36E81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De 80 TB a 15 TB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1095375" y="1695450"/>
          <a:ext cx="9953625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11A29BDA-D302-43D4-82C3-AA2A30BA7E5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7060F1-2E43-4C14-BED4-BA779D0883C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971673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AFE48F6-DB2C-4101-8EF2-EA9805C36A2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Custo é problema de qualidade de dado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28ED8DF-C1C7-4EA0-A403-EEBB75B1477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Mensagem repetitiva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085B69-E018-4E69-8721-409687D138A5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Log que não ajuda no debug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083DE6-1459-4859-8845-4EE7EBD240A4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Dado sem contexto de negócio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4625" y="2114550"/>
            <a:ext cx="1854200" cy="34766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C7A7D2A-BF3A-467C-8ECF-B34A2AC22C3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4B32CA-BB78-4B56-B812-A9BCC02F264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92743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D9C4C4D-B55A-40DE-8DA6-F6B9B898FD1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que entra, e quanto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="1095375" y="1695450"/>
          <a:ext cx="9953625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CDF674A-9796-4AE8-AEC1-3AB44ECE9DF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5D8F02-EE50-4316-9446-560685B6448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45292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4059B8F-0359-4C18-A764-EF56F4F9F414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Observabot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A9BB57-D561-4897-A3A8-E7602EABA2B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F39008-4632-408E-93F8-62C5F307EDF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732225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6B1A23F-AEDF-4CC6-9BCB-3049521F3CD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que é um MCP?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273DBD2-D880-4B4D-BABF-5FE23A3E6038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BDDD20-FD8D-424B-AE9B-EBE72B4E67F0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0EF328-A4FA-499E-8B56-924970416B47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26FF2E-4D1D-4240-9C46-01FB4F7AE06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30113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52EAC98E-BED5-43D7-84A5-C6FCD6EB1C0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Observabot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A17A88-CA2B-4780-A513-D6BAACC553C0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5A918B-704D-49C1-BB5F-7473ECF1C686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Nome do serviço, tag do time ou owner.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31D385-CEFD-47A1-B33A-E2B73F81F962}"/>
              </a:ext>
            </a:extLst>
          </p:cNvPr>
          <p:cNvSpPr>
            <a:spLocks noGrp="1"/>
          </p:cNvSpPr>
          <p:nvPr/>
        </p:nvSpPr>
        <p:spPr>
          <a:xfrm>
            <a:off x="44132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Onde roda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A35EDC5-F3FB-4D7C-8243-093218DC560D}"/>
              </a:ext>
            </a:extLst>
          </p:cNvPr>
          <p:cNvSpPr>
            <a:spLocks noGrp="1"/>
          </p:cNvSpPr>
          <p:nvPr/>
        </p:nvSpPr>
        <p:spPr>
          <a:xfrm>
            <a:off x="44132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Chat, IDE e fluxos de trabalho do dia a dia.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371EFC-BB16-464E-A0BF-A691F975E4CF}"/>
              </a:ext>
            </a:extLst>
          </p:cNvPr>
          <p:cNvSpPr>
            <a:spLocks noGrp="1"/>
          </p:cNvSpPr>
          <p:nvPr/>
        </p:nvSpPr>
        <p:spPr>
          <a:xfrm>
            <a:off x="81216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D9605FF-6D2B-4736-9360-7E726C93D51E}"/>
              </a:ext>
            </a:extLst>
          </p:cNvPr>
          <p:cNvSpPr>
            <a:spLocks noGrp="1"/>
          </p:cNvSpPr>
          <p:nvPr/>
        </p:nvSpPr>
        <p:spPr>
          <a:xfrm>
            <a:off x="81216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Score, critérios que falharam e o que corrigir.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A3D6104-3E77-4D89-8E2D-591E78BAF77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8E207CA-C90A-4281-A7F6-3F32DA15EE0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433347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7E2B4EF-EF01-46B6-81DA-E658B0AA367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Como ele foi feito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4CA39EB-5A19-46CE-8ABD-93FCE1AF391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Node, com as regras em código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2C816A-46EC-4F23-A953-E9F0194FCB6A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Consome a API e o MCP do Datadog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DE180CA-4EE4-4843-88D3-1104B6FA076B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Determinístico: mesma entrada, mesmo score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F3225D9-D2B2-44FC-8F2A-1E22C8704B74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Versionado a cada mudança de RFC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29CB1FA-2CFE-47B2-AF39-0122A6AA5B32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456C6D-FDE2-43D1-A43B-5DA79D93FF1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216033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4CED67F3-9E4A-4FF7-B070-E02EA104CAE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Log Score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0E63B37-00F3-4454-83FD-B789FB48490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Log estruturado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67993B-3604-4E05-A01D-9D725B616D63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Mensagem com significado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187DAE-9669-45B6-8E6B-48E0359FD22B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Nível explícito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344CE88-3638-4D71-BAA4-D0EC91B3C627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Contexto de negócio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E682BB-AB59-4852-AAED-BD68B88F6BD5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Versão e campos recomendados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95A158-7DD1-4ABA-AB8E-41DA702C3BD3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Segurança do dado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CB09AB3-494E-4264-BD1D-46B834337C3A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CBF206-034D-41ED-A16D-B4B9605DF16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007880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A86281A-3C8E-445A-9697-DCA3DDB705E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Análise de log score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B1DF25B-F1A6-4BC0-B8C3-8A621EFE65EA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Resumo da amostra analisada   ·   Critérios de qualidade, pesos e status   ·   Problemas encontrados e próximos passos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C6D609-9260-4832-B4D5-49BFDC64A03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A7BF18D-ADCB-44C3-9A60-0BF8DDD3D47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274939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5307333C-67EC-4549-82E1-F25CB20F0E7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Monitor Score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C7F7231-C36B-4BE7-A320-C4616D7F7D80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Mensagem descritiva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5ACB34-2648-4599-A3C3-2A426E4E4746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Tag de time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08D5DC-A4A4-4F82-9EE6-CF53AE0A079D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Prioridade definida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344662-72B6-49C2-884A-3E678D3ED50C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Notificação no canal correto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95AAF9-302E-4EBE-A148-59A096794E54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Estado válido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A235EF-37D4-4826-8DC8-993E6A7EA5BE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51911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2F889"/>
                </a:solidFill>
                <a:latin typeface="Arial"/>
                <a:ea typeface="Arial"/>
                <a:cs typeface="Arial"/>
              </a:rPr>
              <a:t>Sem silenciamento indevido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321D5EF-FF35-40BB-A321-33F89A0C332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728F5D-BF42-47C2-B715-AE06B7CAB54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899711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51D1150-95DA-46BA-8819-636A2FFDB89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Análise de monitor score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85DE867-0D10-433F-80D2-E561ABDA65B1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Distribuição de notas dos monitores   ·   Monitores que exigem atenção   ·   Problemas e ações priorizadas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D45C88-2CE3-4761-BD4A-7AF7F1C23BA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08CDCDC-979B-44CB-BC8A-7B97FE37130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500648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324574F-EFB9-48E3-84AA-EED7C281551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Análise de índices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5F43DDB-BBE7-4516-81A7-60A1759C1F4B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Três filtros de exclusão ativos no índice analisado   ·   Logs de debug e health-check: exclusão de 100%   ·   Erros 404: exclusão de 99%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CA611F-266A-457A-B65F-6E5FD6E3F36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5769BC-2C79-41E6-8E9C-4C6C0E994E6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4903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6AEDBD4-08FD-4B98-9C21-61F22006842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Análise de volume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5AE9FC-6839-4B57-95E4-4E55BF9359E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Volume afeta o score do time. Crescer volume sem crescer tráfego é sintoma, não conquista.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5667" y="2124075"/>
            <a:ext cx="6180667" cy="347662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67B27ED-A19D-4BCF-9925-3482046FE01A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Amostra indexada: nota A, 93/100   ·   98,2% dos logs excluídos por filtros de índice   ·   Score ajustado pela cobertura: 1,7/100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CE42E6-7126-470C-8364-99007424D07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959F88-CFB5-48C4-B0DD-D7550344CAB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793086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8A01D47-2C31-42FA-B157-57BF05E0F8BE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De onde vêm as regras?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8F54CE-3B97-4A9B-A453-B863951D33C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E6B3B7D-5AD6-4773-846C-137EE61962B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819216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783D215E-A3C5-43C4-9DB9-52B572AE712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Fim do “eu acho”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691811E-B638-4B64-A786-BFD0DAD1FBC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RFCs sustentam o Observabot: a regra é debatida e registrada antes de virar avaliação automática.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0E6F50-AF56-4BBD-AE6C-60C7645FBFCF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4881563" cy="1238250"/>
          </a:xfrm>
          <a:prstGeom prst="rect">
            <a:avLst/>
          </a:prstGeom>
          <a:solidFill>
            <a:srgbClr val="096448"/>
          </a:solidFill>
          <a:ln w="14288">
            <a:solidFill>
              <a:srgbClr val="096448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Debate e registro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2E4013-0652-48DA-A65B-72D40902AB70}"/>
              </a:ext>
            </a:extLst>
          </p:cNvPr>
          <p:cNvSpPr>
            <a:spLocks noGrp="1"/>
          </p:cNvSpPr>
          <p:nvPr/>
        </p:nvSpPr>
        <p:spPr>
          <a:xfrm>
            <a:off x="6405563" y="2857500"/>
            <a:ext cx="4881563" cy="1238250"/>
          </a:xfrm>
          <a:prstGeom prst="rect">
            <a:avLst/>
          </a:prstGeom>
          <a:solidFill>
            <a:srgbClr val="096448"/>
          </a:solidFill>
          <a:ln w="14288">
            <a:solidFill>
              <a:srgbClr val="096448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Validação automática</a:t>
            </a:r>
          </a:p>
        </p:txBody>
      </p:sp>
      <p:cxnSp>
        <p:nvCxnSpPr>
          <p:cNvPr id="12" name="Conector de Seta Reta 11"/>
          <p:cNvCxnSpPr>
            <a:stCxn id="3" idx="3"/>
            <a:endCxn id="4" idx="1"/>
          </p:cNvCxnSpPr>
          <p:nvPr/>
        </p:nvCxnSpPr>
        <p:spPr>
          <a:xfrm>
            <a:off x="5786438" y="3476625"/>
            <a:ext cx="619125" cy="0"/>
          </a:xfrm>
          <a:prstGeom prst="straightConnector1">
            <a:avLst/>
          </a:prstGeom>
          <a:ln w="23813">
            <a:solidFill>
              <a:srgbClr val="096448"/>
            </a:solidFill>
            <a:tailEnd type="triangle" w="med" len="med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4B736489-3070-425C-84AD-EB3966E9151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6155A4-ADAC-4497-A1D2-97A6DA4CACF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40393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B3DC0A4-9A6E-4984-B834-356C7518AD6D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Em busca do diamante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52C644-7794-4C72-970D-8DC8F0969D8C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9715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     A     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9FA473-C7DE-4580-92A6-0768CEC7485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B2D395-3520-4CE6-8090-FBDCB913A2B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387406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7A548D8-C92B-4B44-969B-CCDD45982D6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que é Diamond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41F7C8B-B094-4985-ABB4-071F545F3213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Nos logs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9D77DA-FDBB-4909-B6B2-DB0CB9CD5294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trace_id presente na maior parte dos logs do serviço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0FB551-8D67-43A0-8BDC-9145681E3489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Nos monitores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19569C-FE0A-493D-9F4E-0D634249F8FB}"/>
              </a:ext>
            </a:extLst>
          </p:cNvPr>
          <p:cNvSpPr>
            <a:spLocks noGrp="1"/>
          </p:cNvSpPr>
          <p:nvPr/>
        </p:nvSpPr>
        <p:spPr>
          <a:xfrm>
            <a:off x="6267450" y="25527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Runbook presente e utilizável por quem responde ao alerta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F5D686-870E-4765-BA0A-B3E4441219E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A4C26A-54FE-4BEF-928E-60ADC83D38F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242612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9AD1EB7-169A-44C7-9CDA-0EC33D9A5FD7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Quem observa o observabot?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66078D4-7B61-4216-B44E-D7692A4BB70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38136F-5FF7-4751-9391-1084EB12F1D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757359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63E89-A0A9-4393-A78B-11BF23E47F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Observabilidade do Observabot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78D981-AC64-4D09-9CAD-9540B07E90D1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30s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046F69-A893-495B-BFF8-7B14708998D3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Máximo de resposta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24D431-8246-44D8-95EE-F566756BC8F8}"/>
              </a:ext>
            </a:extLst>
          </p:cNvPr>
          <p:cNvSpPr>
            <a:spLocks noGrp="1"/>
          </p:cNvSpPr>
          <p:nvPr/>
        </p:nvSpPr>
        <p:spPr>
          <a:xfrm>
            <a:off x="44132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Erros e uso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FB6A693-5D9A-4847-94E5-037F73C0FAF3}"/>
              </a:ext>
            </a:extLst>
          </p:cNvPr>
          <p:cNvSpPr>
            <a:spLocks noGrp="1"/>
          </p:cNvSpPr>
          <p:nvPr/>
        </p:nvSpPr>
        <p:spPr>
          <a:xfrm>
            <a:off x="44132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Por tool, por time e no geral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16EF5C-E28F-4F8F-A818-5B67152119D2}"/>
              </a:ext>
            </a:extLst>
          </p:cNvPr>
          <p:cNvSpPr>
            <a:spLocks noGrp="1"/>
          </p:cNvSpPr>
          <p:nvPr/>
        </p:nvSpPr>
        <p:spPr>
          <a:xfrm>
            <a:off x="81216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Rate limit e amostras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B4B57C7-75D8-4A0E-8401-88548A37A220}"/>
              </a:ext>
            </a:extLst>
          </p:cNvPr>
          <p:cNvSpPr>
            <a:spLocks noGrp="1"/>
          </p:cNvSpPr>
          <p:nvPr/>
        </p:nvSpPr>
        <p:spPr>
          <a:xfrm>
            <a:off x="8121650" y="2552700"/>
            <a:ext cx="33464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Rate limit da API do Datadog e quantidade de samples analisadas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AD68622-E34D-4C83-A4A1-38793CC08CC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DE2CF6-ED7E-4CFF-BF52-2710540AD00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374452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5F62D92-3289-4B88-B53D-B3ABD3B1C2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Observabilidade do Observabot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A183E8B-1948-4034-91F0-C3B0077151E6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Visão geral das execuções   ·   Latência e erros por ferramenta   ·   Monitoramento de throughput e desempenho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8A7036-E32A-41C1-9A63-D7473113C69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08D65F-66DD-462E-A313-43043ABF97B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5134526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BDF2961-4633-43F8-9652-4DD9FD06F3CC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Lições aprendidas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77432D-8DA7-4A8D-9110-A38ADFCC236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D67F3F2-2D0E-403A-B53B-F8DBBB3ED4C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018131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762F619-B260-460A-8160-8B59B13BDFD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Lições aprendidas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CA59459-3554-4126-89C4-9583C83CEBFD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01  Centralizar resolve correlação, não fatura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F9329EE-EB28-4254-8795-4E389D25F379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02  Padrão só escala se estiver no fluxo de quem faz código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D49978-2A0D-4779-8FBE-36366398FE98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03  O MCP não substitui governança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DFE90E-AD7F-455E-B3BC-E9E67F1AF540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738187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04  Gamificar ajuda, sem punição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43887" y="2114550"/>
            <a:ext cx="2295676" cy="347662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7248E2D-6209-449A-8BC0-DB9649975C64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62DCAB1-F909-49E5-B003-427F83E3846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964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6448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198715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42F84E1-8D7A-4371-9CEF-3568C6C02D8D}"/>
              </a:ext>
            </a:extLst>
          </p:cNvPr>
          <p:cNvSpPr>
            <a:spLocks noGrp="1"/>
          </p:cNvSpPr>
          <p:nvPr/>
        </p:nvSpPr>
        <p:spPr>
          <a:xfrm>
            <a:off x="914400" y="109537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E2F88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F889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20C005-FC03-4107-86CD-38593A50B3D8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9715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Gabriel Kope</a:t>
            </a:r>
          </a:p>
          <a:p>
            <a:pPr algn="ctr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Conecte-se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16175" y="4648200"/>
            <a:ext cx="1559649" cy="119062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E49DFE6-5F59-4AAB-88A7-0BB9553BEBC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7BCC737-647C-4ACA-B697-F07D92EBBE8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SBF</a:t>
            </a:r>
          </a:p>
        </p:txBody>
      </p:sp>
    </p:spTree>
    <p:extLst>
      <p:ext uri="{BB962C8B-B14F-4D97-AF65-F5344CB8AC3E}">
        <p14:creationId xmlns:p14="http://schemas.microsoft.com/office/powerpoint/2010/main" val="511629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9A5E44-B0D2-4B10-AEAC-AA8D789C631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SESSÃO · 2 MIN 18 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6245BBC-535A-4262-8579-1693BDC62C5D}"/>
              </a:ext>
            </a:extLst>
          </p:cNvPr>
          <p:cNvSpPr>
            <a:spLocks noGrp="1"/>
          </p:cNvSpPr>
          <p:nvPr/>
        </p:nvSpPr>
        <p:spPr>
          <a:xfrm>
            <a:off x="790575" y="1647825"/>
            <a:ext cx="10610850" cy="4191000"/>
          </a:xfrm>
          <a:prstGeom prst="rect">
            <a:avLst/>
          </a:prstGeom>
          <a:solidFill>
            <a:srgbClr val="F4F6FB"/>
          </a:solidFill>
          <a:ln w="14288">
            <a:solidFill>
              <a:srgbClr val="F4F6FB"/>
            </a:solidFill>
          </a:ln>
        </p:spPr>
        <p:txBody>
          <a:bodyPr lIns="323850" tIns="171450" rIns="238125" bIns="171450" anchor="ctr">
            <a:noAutofit/>
          </a:bodyPr>
          <a:lstStyle/>
          <a:p>
            <a:pPr algn="l">
              <a:defRPr sz="26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625">
                <a:solidFill>
                  <a:srgbClr val="18202C"/>
                </a:solidFill>
                <a:latin typeface="Arial"/>
                <a:ea typeface="Arial"/>
                <a:cs typeface="Arial"/>
              </a:rPr>
              <a:t>19:40  app.launch</a:t>
            </a:r>
          </a:p>
          <a:p>
            <a:endParaRPr sz="2625">
              <a:solidFill>
                <a:srgbClr val="18202C"/>
              </a:solidFill>
              <a:latin typeface="Arial"/>
              <a:ea typeface="Arial"/>
              <a:cs typeface="Arial"/>
            </a:endParaRPr>
          </a:p>
          <a:p>
            <a:pPr algn="l">
              <a:defRPr sz="26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625">
                <a:solidFill>
                  <a:srgbClr val="18202C"/>
                </a:solidFill>
                <a:latin typeface="Arial"/>
                <a:ea typeface="Arial"/>
                <a:cs typeface="Arial"/>
              </a:rPr>
              <a:t>19:41  view › Área PIX</a:t>
            </a:r>
          </a:p>
          <a:p>
            <a:endParaRPr sz="2625">
              <a:solidFill>
                <a:srgbClr val="18202C"/>
              </a:solidFill>
              <a:latin typeface="Arial"/>
              <a:ea typeface="Arial"/>
              <a:cs typeface="Arial"/>
            </a:endParaRPr>
          </a:p>
          <a:p>
            <a:pPr algn="l">
              <a:defRPr sz="26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625">
                <a:solidFill>
                  <a:srgbClr val="18202C"/>
                </a:solidFill>
                <a:latin typeface="Arial"/>
                <a:ea typeface="Arial"/>
                <a:cs typeface="Arial"/>
              </a:rPr>
              <a:t>19:42  action › Confirmar</a:t>
            </a:r>
          </a:p>
          <a:p>
            <a:endParaRPr sz="2625">
              <a:solidFill>
                <a:srgbClr val="18202C"/>
              </a:solidFill>
              <a:latin typeface="Arial"/>
              <a:ea typeface="Arial"/>
              <a:cs typeface="Arial"/>
            </a:endParaRPr>
          </a:p>
          <a:p>
            <a:pPr algn="l">
              <a:defRPr sz="26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625">
                <a:solidFill>
                  <a:srgbClr val="18202C"/>
                </a:solidFill>
                <a:latin typeface="Arial"/>
                <a:ea typeface="Arial"/>
                <a:cs typeface="Arial"/>
              </a:rPr>
              <a:t>19:42  error › transfer_failed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F5A18B3-99E7-4A58-925B-E914960B8C8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129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4B3C1B-67D1-48F1-A00E-75D343205B60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970885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3CBB08D-882E-4318-A246-11AD1EC0624F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Consultar o saldo e fazer um PIX devem ter a mesma criticidade?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1AB063-0FC4-49D5-87CF-6D77BC07022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41C47AD-1A6A-4237-8962-26A54E7E1840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63939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22155AE-2574-40CB-9CDB-439851DD1738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tornar a amostragem de RUM mais inteligente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A05AEF-A2F0-4333-8136-1DEB7CB7F4B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131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7C7508-12C9-48C6-B81E-1B8C5BD4952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5114789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F4D94C22-84CB-497A-BBBF-DAE72FC9744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Quem somos?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7579A0-B586-4C60-A181-75B094D3E519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Maior banco de investimentos da América Latina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336D7E8-1F59-46A8-8D58-2A158A0D11E3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EEE4C9-2230-42AD-B49C-8A040C5EDBFE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anos de história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B7D902-9C71-4FD5-803A-CF9717D35CDF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410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6ABEAD-78F9-4D5D-822A-39340E58F61B}"/>
              </a:ext>
            </a:extLst>
          </p:cNvPr>
          <p:cNvSpPr>
            <a:spLocks noGrp="1"/>
          </p:cNvSpPr>
          <p:nvPr/>
        </p:nvSpPr>
        <p:spPr>
          <a:xfrm>
            <a:off x="3409950" y="32956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sócios e associados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604ACC-5C64-496C-84DC-BC4A3232594E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12000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1104F57-3260-477E-BF16-74DF32F1E0AE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funcionários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B1994E4-13AD-4F60-9F89-07F3B0A1C74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9A2808-2058-48AA-8AEE-D1AADF22BAFC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países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6927AE-25D6-4056-AC98-722FD14514DC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925,2 Bi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7CFC0FE-E1BC-40A0-B267-162DD8B76858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ativos totais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3631BE-0A02-47F3-A846-F1A594D0087E}"/>
              </a:ext>
            </a:extLst>
          </p:cNvPr>
          <p:cNvSpPr>
            <a:spLocks noGrp="1"/>
          </p:cNvSpPr>
          <p:nvPr/>
        </p:nvSpPr>
        <p:spPr>
          <a:xfrm>
            <a:off x="3409950" y="42862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79,6 Bi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1E7C6C0-8F61-4B92-8DE8-5D717A2047FE}"/>
              </a:ext>
            </a:extLst>
          </p:cNvPr>
          <p:cNvSpPr>
            <a:spLocks noGrp="1"/>
          </p:cNvSpPr>
          <p:nvPr/>
        </p:nvSpPr>
        <p:spPr>
          <a:xfrm>
            <a:off x="3409950" y="52768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patrimônio líquido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3A49183-2CBA-450C-AAF6-26E78C8E3404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10,4 Bi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CEA45AC-CA7C-46D4-A304-845CBA5927A2}"/>
              </a:ext>
            </a:extLst>
          </p:cNvPr>
          <p:cNvSpPr>
            <a:spLocks noGrp="1"/>
          </p:cNvSpPr>
          <p:nvPr/>
        </p:nvSpPr>
        <p:spPr>
          <a:xfrm>
            <a:off x="6096000" y="52768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lucro líquido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3B2A7E8-FC49-4F60-90DD-E427158FB1F5}"/>
              </a:ext>
            </a:extLst>
          </p:cNvPr>
          <p:cNvSpPr>
            <a:spLocks noGrp="1"/>
          </p:cNvSpPr>
          <p:nvPr/>
        </p:nvSpPr>
        <p:spPr>
          <a:xfrm>
            <a:off x="8782050" y="4286250"/>
            <a:ext cx="2447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82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+26,7%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CB487C1-754F-41CB-9519-A6E058B2A070}"/>
              </a:ext>
            </a:extLst>
          </p:cNvPr>
          <p:cNvSpPr>
            <a:spLocks noGrp="1"/>
          </p:cNvSpPr>
          <p:nvPr/>
        </p:nvSpPr>
        <p:spPr>
          <a:xfrm>
            <a:off x="8782050" y="5276850"/>
            <a:ext cx="24479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indicador com rótulo encoberto na foto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C988AFD-CB54-4D87-9A10-5F810B05C34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1A2E923-187E-441D-A6A3-DC518AAD153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4067925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6E4186-FDBB-4D1C-BE2D-EBBC42A42DE3}"/>
              </a:ext>
            </a:extLst>
          </p:cNvPr>
          <p:cNvSpPr>
            <a:spLocks noGrp="1"/>
          </p:cNvSpPr>
          <p:nvPr/>
        </p:nvSpPr>
        <p:spPr>
          <a:xfrm>
            <a:off x="666750" y="714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 ideia central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81432B8-F1BB-40A2-A6F8-16A368BC827F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0096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34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Em vez de capturar todas as sessões, o banco decide quais sessões são importantes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AA0A40-5A0D-4974-B63F-88445E7C3D3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DB26F1-E341-4ADC-A5F5-9958E638EE49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514299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98B58E3-4CF8-4C2D-BA79-525C8063EF7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2A6E4D1-6271-4057-9FB7-C72247E25FC1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3M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F63137-3694-46EF-B726-88615304B54D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991F0D5-2A2A-43BF-BD6E-795C5E7DA917}"/>
              </a:ext>
            </a:extLst>
          </p:cNvPr>
          <p:cNvSpPr>
            <a:spLocks noGrp="1"/>
          </p:cNvSpPr>
          <p:nvPr/>
        </p:nvSpPr>
        <p:spPr>
          <a:xfrm>
            <a:off x="43053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~7M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7B00D6-4D75-4065-9451-F9E5B3922BFD}"/>
              </a:ext>
            </a:extLst>
          </p:cNvPr>
          <p:cNvSpPr>
            <a:spLocks noGrp="1"/>
          </p:cNvSpPr>
          <p:nvPr/>
        </p:nvSpPr>
        <p:spPr>
          <a:xfrm>
            <a:off x="43053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interações por dia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F544910-8583-4E40-A774-36413F96D864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~3M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812DF29-1EEE-46BE-81ED-C2A215059F16}"/>
              </a:ext>
            </a:extLst>
          </p:cNvPr>
          <p:cNvSpPr>
            <a:spLocks noGrp="1"/>
          </p:cNvSpPr>
          <p:nvPr/>
        </p:nvSpPr>
        <p:spPr>
          <a:xfrm>
            <a:off x="78867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transações por dia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AA2DE4-D7B0-4923-9493-D20097E84013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EF9254-A345-42EF-B127-ECE72F2D599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352027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F4BDDF6-068F-4A93-A515-B0F0C9A29CAB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Nessa escala, decisões aparentemente simples se tornam decisões importantes de arquitetura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D7D47EB-6C32-472F-81EE-79E3A892818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904D55-913B-4ABF-A2CC-3F1E861469F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2003697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890DD9-3EF9-4ACF-9006-3F1B6798678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problema de observabilidade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B22B3D-26C4-407B-AB1D-04F913A1C322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TODAS AS SESSÕES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B7D2F8-92AF-4A69-97DB-2485F7CF334C}"/>
              </a:ext>
            </a:extLst>
          </p:cNvPr>
          <p:cNvSpPr>
            <a:spLocks noGrp="1"/>
          </p:cNvSpPr>
          <p:nvPr/>
        </p:nvSpPr>
        <p:spPr>
          <a:xfrm>
            <a:off x="952500" y="3286125"/>
            <a:ext cx="10001250" cy="857250"/>
          </a:xfrm>
          <a:prstGeom prst="rect">
            <a:avLst/>
          </a:prstGeom>
          <a:solidFill>
            <a:srgbClr val="EFF3FA"/>
          </a:solidFill>
          <a:ln w="14288">
            <a:solidFill>
              <a:srgbClr val="E1E7F0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EAD5E1-1C04-4584-9E48-78D2C15C81C1}"/>
              </a:ext>
            </a:extLst>
          </p:cNvPr>
          <p:cNvSpPr>
            <a:spLocks noGrp="1"/>
          </p:cNvSpPr>
          <p:nvPr/>
        </p:nvSpPr>
        <p:spPr>
          <a:xfrm>
            <a:off x="10048875" y="3286125"/>
            <a:ext cx="904875" cy="8572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ADBF2D9-2FEF-441B-8DC4-027AE96233C9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33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400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As sessões que realmente importam para o negócio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D2876E-F07C-4F18-A906-9F0529C6A9B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995C62D-50D4-4B2C-A04C-7618C30E28B7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943478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AFE54A6E-8CBA-4224-A68F-1257F963138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Amostragem aleatória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CD11F5-F0ED-47E0-BC25-30F7ECDDFC88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2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TODAS AS SESSÕES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1680CF-9AB2-4DC9-BC55-DC184489F8F4}"/>
              </a:ext>
            </a:extLst>
          </p:cNvPr>
          <p:cNvSpPr>
            <a:spLocks noGrp="1"/>
          </p:cNvSpPr>
          <p:nvPr/>
        </p:nvSpPr>
        <p:spPr>
          <a:xfrm>
            <a:off x="952500" y="3286125"/>
            <a:ext cx="10001250" cy="857250"/>
          </a:xfrm>
          <a:prstGeom prst="rect">
            <a:avLst/>
          </a:prstGeom>
          <a:solidFill>
            <a:srgbClr val="EFF3FA"/>
          </a:solidFill>
          <a:ln w="14288">
            <a:solidFill>
              <a:srgbClr val="E1E7F0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BE99DB-5E9B-41A5-87D5-64DB33118301}"/>
              </a:ext>
            </a:extLst>
          </p:cNvPr>
          <p:cNvSpPr>
            <a:spLocks noGrp="1"/>
          </p:cNvSpPr>
          <p:nvPr/>
        </p:nvSpPr>
        <p:spPr>
          <a:xfrm>
            <a:off x="10048875" y="3286125"/>
            <a:ext cx="904875" cy="8572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C960F81-C675-4773-AE9F-BEF1B01C48D2}"/>
              </a:ext>
            </a:extLst>
          </p:cNvPr>
          <p:cNvSpPr>
            <a:spLocks noGrp="1"/>
          </p:cNvSpPr>
          <p:nvPr/>
        </p:nvSpPr>
        <p:spPr>
          <a:xfrm>
            <a:off x="1252538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65C89E-0D94-4590-8071-B5B81B15ED63}"/>
              </a:ext>
            </a:extLst>
          </p:cNvPr>
          <p:cNvSpPr>
            <a:spLocks noGrp="1"/>
          </p:cNvSpPr>
          <p:nvPr/>
        </p:nvSpPr>
        <p:spPr>
          <a:xfrm>
            <a:off x="2152650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901E2BD-3EEA-485E-BC45-58C65BD518EC}"/>
              </a:ext>
            </a:extLst>
          </p:cNvPr>
          <p:cNvSpPr>
            <a:spLocks noGrp="1"/>
          </p:cNvSpPr>
          <p:nvPr/>
        </p:nvSpPr>
        <p:spPr>
          <a:xfrm>
            <a:off x="3052763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1A239C4-56A8-4538-BCFA-95C0980A823E}"/>
              </a:ext>
            </a:extLst>
          </p:cNvPr>
          <p:cNvSpPr>
            <a:spLocks noGrp="1"/>
          </p:cNvSpPr>
          <p:nvPr/>
        </p:nvSpPr>
        <p:spPr>
          <a:xfrm>
            <a:off x="4552950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94532F-5480-4FE6-BCF8-2B498BBA9502}"/>
              </a:ext>
            </a:extLst>
          </p:cNvPr>
          <p:cNvSpPr>
            <a:spLocks noGrp="1"/>
          </p:cNvSpPr>
          <p:nvPr/>
        </p:nvSpPr>
        <p:spPr>
          <a:xfrm>
            <a:off x="4852988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38832F-FA88-4A2D-A3E3-F74B2645EA01}"/>
              </a:ext>
            </a:extLst>
          </p:cNvPr>
          <p:cNvSpPr>
            <a:spLocks noGrp="1"/>
          </p:cNvSpPr>
          <p:nvPr/>
        </p:nvSpPr>
        <p:spPr>
          <a:xfrm>
            <a:off x="6453188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604C4E-AB82-4C89-B41F-E49CD7A32C0E}"/>
              </a:ext>
            </a:extLst>
          </p:cNvPr>
          <p:cNvSpPr>
            <a:spLocks noGrp="1"/>
          </p:cNvSpPr>
          <p:nvPr/>
        </p:nvSpPr>
        <p:spPr>
          <a:xfrm>
            <a:off x="7853363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864EFFB-1368-4252-9A87-D55AEA873876}"/>
              </a:ext>
            </a:extLst>
          </p:cNvPr>
          <p:cNvSpPr>
            <a:spLocks noGrp="1"/>
          </p:cNvSpPr>
          <p:nvPr/>
        </p:nvSpPr>
        <p:spPr>
          <a:xfrm>
            <a:off x="9553575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1045A13-6FF0-4B94-9CB5-2CF2E48C6F28}"/>
              </a:ext>
            </a:extLst>
          </p:cNvPr>
          <p:cNvSpPr>
            <a:spLocks noGrp="1"/>
          </p:cNvSpPr>
          <p:nvPr/>
        </p:nvSpPr>
        <p:spPr>
          <a:xfrm>
            <a:off x="10553700" y="3171825"/>
            <a:ext cx="47625" cy="10858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1692D1F-634F-4FD1-AC25-E0CEDAB81EEC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33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400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As sessões capturadas com amostragem aleatória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535B4E6-256D-4C7E-8753-CB552A5D98E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A20CD7E-B91D-424E-9DC9-C056EDAE29A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0338085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3F2255-1E91-40C5-8398-39429EE3633C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reduzir o volume de telemetria sem perder justamente as sessões que mais importam?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49794C4-D37B-4DAA-987C-1FBFFEA18DA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138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09A055-2A64-41E6-921D-F4B783B3A14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4292809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4D607C4-90ED-4873-A053-A7A19B0F7D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BTG não trata todas as sessões da mesma forma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D80288-957D-4D40-B1F2-35530AD91A9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Jornadas críticas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D6CF21-7D71-443B-9BC1-A435B36653E4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Erros e crashes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B50947-B861-46C9-8F4F-748C3DB6A069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Interações com o suporte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CC2935C-0232-44E2-83E4-99CCB37F8FA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139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31DBFE-48FF-4DE0-B6F1-AC894F3DE2D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94971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7434C51-1436-4477-92F8-A8C4EC5AE6DE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Nem sempre sabemos, no início da sessão, se ela será importante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38B234-3E52-4BF1-8124-43AED0500FB2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2EC329C-2B18-40B3-92F0-ABAA6B8C95F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310543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B217D0D-AFE5-4060-804A-F2EFB402869D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funciona tecnicamente?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78F492A-5A72-4B5F-BAD1-FC84C8FA6D1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141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4129074-4B71-4C50-A2F4-149D2C006E3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3348170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405233E2-AD54-4CEA-8496-3B0A8B6C3B0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Do dispositivo para a Datadog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712A84-6A84-4D7A-ABE8-EFF9A99A9EDF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3048000" cy="12382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Sessão do usuário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987D16A-CC7E-4151-8D7D-13787A17FEFB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3048000" cy="12382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Buffer local de RUM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8B5560-4878-4F50-BE6A-CBB6A252B24E}"/>
              </a:ext>
            </a:extLst>
          </p:cNvPr>
          <p:cNvSpPr>
            <a:spLocks noGrp="1"/>
          </p:cNvSpPr>
          <p:nvPr/>
        </p:nvSpPr>
        <p:spPr>
          <a:xfrm>
            <a:off x="8239125" y="2476500"/>
            <a:ext cx="3048000" cy="1238250"/>
          </a:xfrm>
          <a:prstGeom prst="rect">
            <a:avLst/>
          </a:prstGeom>
          <a:solidFill>
            <a:srgbClr val="0056C9"/>
          </a:solidFill>
          <a:ln w="14288">
            <a:solidFill>
              <a:srgbClr val="0056C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Mecanismo de decisão</a:t>
            </a:r>
          </a:p>
        </p:txBody>
      </p:sp>
      <p:cxnSp>
        <p:nvCxnSpPr>
          <p:cNvPr id="17" name="Conector de Seta Reta 16"/>
          <p:cNvCxnSpPr>
            <a:stCxn id="2" idx="3"/>
            <a:endCxn id="3" idx="1"/>
          </p:cNvCxnSpPr>
          <p:nvPr/>
        </p:nvCxnSpPr>
        <p:spPr>
          <a:xfrm>
            <a:off x="3952875" y="3095625"/>
            <a:ext cx="619125" cy="0"/>
          </a:xfrm>
          <a:prstGeom prst="straightConnector1">
            <a:avLst/>
          </a:prstGeom>
          <a:ln w="23813">
            <a:solidFill>
              <a:srgbClr val="0056C9"/>
            </a:solidFill>
            <a:tailEnd type="triangle" w="med" len="med"/>
          </a:ln>
        </p:spPr>
      </p:cxnSp>
      <p:cxnSp>
        <p:nvCxnSpPr>
          <p:cNvPr id="18" name="Conector de Seta Reta 17"/>
          <p:cNvCxnSpPr>
            <a:stCxn id="3" idx="3"/>
            <a:endCxn id="4" idx="1"/>
          </p:cNvCxnSpPr>
          <p:nvPr/>
        </p:nvCxnSpPr>
        <p:spPr>
          <a:xfrm>
            <a:off x="7620000" y="3095625"/>
            <a:ext cx="619125" cy="0"/>
          </a:xfrm>
          <a:prstGeom prst="straightConnector1">
            <a:avLst/>
          </a:prstGeom>
          <a:ln w="23813">
            <a:solidFill>
              <a:srgbClr val="0056C9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308F070A-E9E4-4F39-8B4A-F99F6CBE82C4}"/>
              </a:ext>
            </a:extLst>
          </p:cNvPr>
          <p:cNvSpPr>
            <a:spLocks noGrp="1"/>
          </p:cNvSpPr>
          <p:nvPr/>
        </p:nvSpPr>
        <p:spPr>
          <a:xfrm>
            <a:off x="809625" y="44767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É uma transação crítica?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4D4052A-CD9B-4FE4-B48A-C7ACCBF8CFE0}"/>
              </a:ext>
            </a:extLst>
          </p:cNvPr>
          <p:cNvSpPr>
            <a:spLocks noGrp="1"/>
          </p:cNvSpPr>
          <p:nvPr/>
        </p:nvSpPr>
        <p:spPr>
          <a:xfrm>
            <a:off x="6238875" y="44767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Ocorreu um erro?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2EDA272-DC0C-4012-A448-E0BF3C9BD38F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Houve um crash?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919D53-4728-4F5E-91A8-8038834A3043}"/>
              </a:ext>
            </a:extLst>
          </p:cNvPr>
          <p:cNvSpPr>
            <a:spLocks noGrp="1"/>
          </p:cNvSpPr>
          <p:nvPr/>
        </p:nvSpPr>
        <p:spPr>
          <a:xfrm>
            <a:off x="6238875" y="5095875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O cliente entrou em contato com o suporte?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14450F7-5AF4-4564-913C-2A3BEADEBCE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142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3CC0703-945B-412D-A4F6-25AA6718800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065539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6BAE77A-28A2-4503-B0B2-1419D6B8B34F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Preservar o contexto anterior à falha é exatamente o que os engenheiros precisam para entender o problema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4004EF2-7A6B-48D1-9253-C0D9AE9D9BD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143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D3BD6C4-DEAD-4C59-BD82-8003FD625FC9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087287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F2AA0B8-8C14-4EAB-B5FB-E8AF245848E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 que essa abordagem possibilitou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824E12-288F-460B-ADF5-1EEC7D5B0006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6E1B28-1DEC-4630-A6AE-FE8E5D796CBE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jornadas críticas cobertas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054C03-D251-497F-A2E9-9D835582A568}"/>
              </a:ext>
            </a:extLst>
          </p:cNvPr>
          <p:cNvSpPr>
            <a:spLocks noGrp="1"/>
          </p:cNvSpPr>
          <p:nvPr/>
        </p:nvSpPr>
        <p:spPr>
          <a:xfrm>
            <a:off x="43053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022462-2656-4A60-B030-420D76E82A33}"/>
              </a:ext>
            </a:extLst>
          </p:cNvPr>
          <p:cNvSpPr>
            <a:spLocks noGrp="1"/>
          </p:cNvSpPr>
          <p:nvPr/>
        </p:nvSpPr>
        <p:spPr>
          <a:xfrm>
            <a:off x="43053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do controle de amostragem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B0CD6A-1304-4406-A6B2-74B6AB68D45B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33432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3C6F1C2-62D0-46D4-BEF8-3AC96F6D14BD}"/>
              </a:ext>
            </a:extLst>
          </p:cNvPr>
          <p:cNvSpPr>
            <a:spLocks noGrp="1"/>
          </p:cNvSpPr>
          <p:nvPr/>
        </p:nvSpPr>
        <p:spPr>
          <a:xfrm>
            <a:off x="7886700" y="3276600"/>
            <a:ext cx="334327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das sessões permitidas recebidas no Datadog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815719C-5F71-430F-83FE-185992DBD39A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9DCF82D-0489-44EE-8D18-91351DB50E9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6766157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C5D10D3-D9A0-47A7-BAAE-183C8C665D7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Uso estimado de sessões do RUM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BBAF02A-78F8-454F-80A6-A68E39635F83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58% de redução no volume de RUM   ·   ~180k US$/ano de economia de custos de telemetria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152CCF-2EDB-438D-B253-9D3CAFC5C7D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28F005-5A64-4F9B-8D29-474F2720029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5284721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9772926-384D-48BF-A434-5F68F934A42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Impacto qualitativo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9DD37E8-7204-4F99-9EA2-85E76019256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Cobertura previsível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AC39CD4-8831-44E0-90E6-DFE50623B988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Suporte com mais contexto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E5A5AF-E71F-4A2F-BF96-2DB205A2A3DA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146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543653-6EA6-406D-8D02-3187288907C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6995475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9186554-017F-4226-9282-8B8FC1EB0B7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Aprendizados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C0E5CE-EC54-411D-BA2B-860E6AC8406E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Nem toda sessão tem o mesmo valor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3B61D0-B459-446A-858C-EC054DF470E8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Estratégias de amostragem devem considerar sinais do negócio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0B0474-0099-4407-BA0C-3EEF7102607B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10477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Pense além do uso pela engenharia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9B606B-8334-43DE-A715-27DB8065D41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4AE5F8D-9CE2-440C-AD8C-A13397159E1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00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6C9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14772172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BA585CD-78D0-48C8-8330-4722CA53F530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objetivo nunca foi coletar menos dados. Foi coletar os dados certos.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E8EE77-9303-49C8-BE82-BF51DA81ABA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C3219B-B9E5-4877-BB00-BAF07217322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btg pactual</a:t>
            </a:r>
          </a:p>
        </p:txBody>
      </p:sp>
    </p:spTree>
    <p:extLst>
      <p:ext uri="{BB962C8B-B14F-4D97-AF65-F5344CB8AC3E}">
        <p14:creationId xmlns:p14="http://schemas.microsoft.com/office/powerpoint/2010/main" val="5472656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22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6ACD6B4-E840-4E0D-AE85-37EF4CFC22EA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evolução do Datadog Agent para uma camada de execução de 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476C744-7BC5-4481-ADF6-BADDA1976A8D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97155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 coleta à ação</a:t>
            </a:r>
          </a:p>
          <a:p>
            <a:endParaRPr sz="20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Abrar Hussain</a:t>
            </a:r>
          </a:p>
          <a:p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Diretor Sênior de Gerenciamento de Produto · Datadog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5A26A9A-9479-43A0-BC62-E1A9BAE53F6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DAD5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AD5F0"/>
                </a:solidFill>
                <a:latin typeface="Arial"/>
                <a:ea typeface="Arial"/>
                <a:cs typeface="Arial"/>
              </a:rPr>
              <a:t>149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7F35E3-1397-421C-85DF-9F85527443B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2795946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2E1DEC3-13A5-4B7F-89E0-754C10B666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Instalação e integrações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5FDE1A-2BFE-4039-BB62-1354CA3186CF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1. Install the Agent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DBBD4A-A3C2-460B-B328-06B5AF680111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3346450" cy="3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Collect events and metrics from your hosts that send data to Datadog.</a:t>
            </a:r>
          </a:p>
          <a:p>
            <a:endParaRPr sz="1875" b="0">
              <a:solidFill>
                <a:srgbClr val="18202C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Getting Started with the Agent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C70AB6-7B6E-4F8C-BD42-574811BF9AC8}"/>
              </a:ext>
            </a:extLst>
          </p:cNvPr>
          <p:cNvSpPr>
            <a:spLocks noGrp="1"/>
          </p:cNvSpPr>
          <p:nvPr/>
        </p:nvSpPr>
        <p:spPr>
          <a:xfrm>
            <a:off x="44132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2. Set up integrations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9D73F8-A0F5-4C43-A22C-CA81A9A914A0}"/>
              </a:ext>
            </a:extLst>
          </p:cNvPr>
          <p:cNvSpPr>
            <a:spLocks noGrp="1"/>
          </p:cNvSpPr>
          <p:nvPr/>
        </p:nvSpPr>
        <p:spPr>
          <a:xfrm>
            <a:off x="4413250" y="2552700"/>
            <a:ext cx="3346450" cy="3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Gather metrics, traces, and logs with over 1,000 built-in integrations to send to Datadog.</a:t>
            </a:r>
          </a:p>
          <a:p>
            <a:endParaRPr sz="1875" b="0">
              <a:solidFill>
                <a:srgbClr val="18202C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Getting Started with Integrations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412CEC-10BB-4D28-8385-E48027F4201A}"/>
              </a:ext>
            </a:extLst>
          </p:cNvPr>
          <p:cNvSpPr>
            <a:spLocks noGrp="1"/>
          </p:cNvSpPr>
          <p:nvPr/>
        </p:nvSpPr>
        <p:spPr>
          <a:xfrm>
            <a:off x="81216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3. Get started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6EEE3B-F77A-46DB-941D-973544B7581B}"/>
              </a:ext>
            </a:extLst>
          </p:cNvPr>
          <p:cNvSpPr>
            <a:spLocks noGrp="1"/>
          </p:cNvSpPr>
          <p:nvPr/>
        </p:nvSpPr>
        <p:spPr>
          <a:xfrm>
            <a:off x="8121650" y="2552700"/>
            <a:ext cx="3346450" cy="3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Conteúdo parcialmente fora do enquadramento.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B2A538E-9966-471E-9B0E-0E63E023748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174DB9A-6F32-4ED1-AD3E-E4859ADC713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277930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B871244-3182-4A65-9E48-AFF14893160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DogStatsD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BFECD4-CC58-46A6-903A-2FB059CB7D37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HOST</a:t>
            </a:r>
          </a:p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web.py</a:t>
            </a:r>
          </a:p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worker.rb</a:t>
            </a:r>
          </a:p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backend.java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A30614-1A68-4B88-80A2-09E4E7E6EF28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DOGSTATSD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FE05F4-6740-4209-87F4-CA4381F93138}"/>
              </a:ext>
            </a:extLst>
          </p:cNvPr>
          <p:cNvSpPr>
            <a:spLocks noGrp="1"/>
          </p:cNvSpPr>
          <p:nvPr/>
        </p:nvSpPr>
        <p:spPr>
          <a:xfrm>
            <a:off x="823912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APPLICATION</a:t>
            </a:r>
          </a:p>
        </p:txBody>
      </p:sp>
      <p:cxnSp>
        <p:nvCxnSpPr>
          <p:cNvPr id="15" name="Conector de Seta Reta 14"/>
          <p:cNvCxnSpPr>
            <a:stCxn id="2" idx="3"/>
            <a:endCxn id="3" idx="1"/>
          </p:cNvCxnSpPr>
          <p:nvPr/>
        </p:nvCxnSpPr>
        <p:spPr>
          <a:xfrm>
            <a:off x="3952875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8682AA74-E0E2-43C0-9AFE-D698548D769B}"/>
              </a:ext>
            </a:extLst>
          </p:cNvPr>
          <p:cNvSpPr>
            <a:spLocks noGrp="1"/>
          </p:cNvSpPr>
          <p:nvPr/>
        </p:nvSpPr>
        <p:spPr>
          <a:xfrm>
            <a:off x="3952875" y="2476500"/>
            <a:ext cx="619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UDP</a:t>
            </a:r>
          </a:p>
        </p:txBody>
      </p:sp>
      <p:cxnSp>
        <p:nvCxnSpPr>
          <p:cNvPr id="17" name="Conector de Seta Reta 16"/>
          <p:cNvCxnSpPr>
            <a:stCxn id="3" idx="3"/>
            <a:endCxn id="4" idx="1"/>
          </p:cNvCxnSpPr>
          <p:nvPr/>
        </p:nvCxnSpPr>
        <p:spPr>
          <a:xfrm>
            <a:off x="7620000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331AEFF6-6B6C-4973-B1FC-E1985E988D6A}"/>
              </a:ext>
            </a:extLst>
          </p:cNvPr>
          <p:cNvSpPr>
            <a:spLocks noGrp="1"/>
          </p:cNvSpPr>
          <p:nvPr/>
        </p:nvSpPr>
        <p:spPr>
          <a:xfrm>
            <a:off x="7620000" y="2476500"/>
            <a:ext cx="619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8449B3C-304C-40F9-947F-0C7240CEFD1F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80BD33-B909-4302-AF40-EC170498EB0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8574441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9E5D78AB-D329-43A1-9C83-86FC0B9B539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 origem do agente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6572D8-18B1-418F-8309-046699D4691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Modelo de coleta passiva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294EA2-9BF7-40D7-8077-F438E66BE371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C5B86E-4A74-48E0-9DC4-45D8152156F4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3095625" cy="19050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Coletar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Salvar em buffer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Encaminhar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1C97EB-AF40-41D5-82B4-38E996946E44}"/>
              </a:ext>
            </a:extLst>
          </p:cNvPr>
          <p:cNvSpPr>
            <a:spLocks noGrp="1"/>
          </p:cNvSpPr>
          <p:nvPr/>
        </p:nvSpPr>
        <p:spPr>
          <a:xfrm>
            <a:off x="9020175" y="2971800"/>
            <a:ext cx="2247900" cy="1190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cxnSp>
        <p:nvCxnSpPr>
          <p:cNvPr id="21" name="Conector de Seta Reta 20"/>
          <p:cNvCxnSpPr>
            <a:stCxn id="4" idx="3"/>
            <a:endCxn id="5" idx="1"/>
          </p:cNvCxnSpPr>
          <p:nvPr/>
        </p:nvCxnSpPr>
        <p:spPr>
          <a:xfrm flipV="1">
            <a:off x="7810500" y="3567113"/>
            <a:ext cx="1209675" cy="1428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1B4322E-EC5A-4E63-BEB3-7D62386AE76D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705100" cy="83820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Métricas</a:t>
            </a:r>
          </a:p>
        </p:txBody>
      </p:sp>
      <p:cxnSp>
        <p:nvCxnSpPr>
          <p:cNvPr id="23" name="Conector de Seta Reta 22"/>
          <p:cNvCxnSpPr>
            <a:stCxn id="7" idx="3"/>
            <a:endCxn id="4" idx="1"/>
          </p:cNvCxnSpPr>
          <p:nvPr/>
        </p:nvCxnSpPr>
        <p:spPr>
          <a:xfrm>
            <a:off x="3467100" y="2609850"/>
            <a:ext cx="1247775" cy="971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8EF4FCE8-8050-4C88-BF45-C1C1B1ABBC3A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705100" cy="83820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cxnSp>
        <p:nvCxnSpPr>
          <p:cNvPr id="25" name="Conector de Seta Reta 24"/>
          <p:cNvCxnSpPr>
            <a:stCxn id="9" idx="3"/>
            <a:endCxn id="4" idx="1"/>
          </p:cNvCxnSpPr>
          <p:nvPr/>
        </p:nvCxnSpPr>
        <p:spPr>
          <a:xfrm flipV="1">
            <a:off x="3467100" y="3581400"/>
            <a:ext cx="1247775" cy="142875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9E81DE-551E-4338-8AE7-2568639F6A1B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2705100" cy="83820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Traces</a:t>
            </a:r>
          </a:p>
        </p:txBody>
      </p:sp>
      <p:cxnSp>
        <p:nvCxnSpPr>
          <p:cNvPr id="27" name="Conector de Seta Reta 26"/>
          <p:cNvCxnSpPr>
            <a:stCxn id="11" idx="3"/>
            <a:endCxn id="4" idx="1"/>
          </p:cNvCxnSpPr>
          <p:nvPr/>
        </p:nvCxnSpPr>
        <p:spPr>
          <a:xfrm flipV="1">
            <a:off x="3467100" y="3581400"/>
            <a:ext cx="1247775" cy="125730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D689778A-B37A-404E-8FE3-7F6821CC0861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Centrado no host e unidirecional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9BCBDB2-88EA-40CF-88F1-71E028FBC8D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4DBC29A-C322-4271-B279-D2B1435B099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5444454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98ECC5E-13E0-4B31-B281-C5189132CE9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Hosts, contêineres e Kubernetes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AB173C-21A8-467F-B4ED-0E5269E33908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93BF68-6E7A-4BFC-AA73-6B0A4C4977AE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16CB69-BF38-4CA9-BC0B-FCA4B5BF13D8}"/>
              </a:ext>
            </a:extLst>
          </p:cNvPr>
          <p:cNvSpPr>
            <a:spLocks noGrp="1"/>
          </p:cNvSpPr>
          <p:nvPr/>
        </p:nvSpPr>
        <p:spPr>
          <a:xfrm>
            <a:off x="8239125" y="2857500"/>
            <a:ext cx="3048000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cxnSp>
        <p:nvCxnSpPr>
          <p:cNvPr id="13" name="Conector de Seta Reta 12"/>
          <p:cNvCxnSpPr>
            <a:stCxn id="2" idx="3"/>
            <a:endCxn id="3" idx="1"/>
          </p:cNvCxnSpPr>
          <p:nvPr/>
        </p:nvCxnSpPr>
        <p:spPr>
          <a:xfrm>
            <a:off x="3952875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14" name="Conector de Seta Reta 13"/>
          <p:cNvCxnSpPr>
            <a:stCxn id="3" idx="3"/>
            <a:endCxn id="4" idx="1"/>
          </p:cNvCxnSpPr>
          <p:nvPr/>
        </p:nvCxnSpPr>
        <p:spPr>
          <a:xfrm>
            <a:off x="7620000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EF9FDB01-E315-4E1E-871D-9B0A3AC46B4A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818371-74E2-4B08-BC22-42D8EFA14B3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34113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14A8BEE8-4B07-419E-8522-668B6412376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Datadog no Kubernetes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1BAFB7F-FD0C-4BBF-BC08-F77D4051E64D}"/>
              </a:ext>
            </a:extLst>
          </p:cNvPr>
          <p:cNvSpPr>
            <a:spLocks noGrp="1"/>
          </p:cNvSpPr>
          <p:nvPr/>
        </p:nvSpPr>
        <p:spPr>
          <a:xfrm>
            <a:off x="619125" y="1657350"/>
            <a:ext cx="10953750" cy="1238250"/>
          </a:xfrm>
          <a:prstGeom prst="rect">
            <a:avLst/>
          </a:prstGeom>
          <a:solidFill>
            <a:srgbClr val="F1F7FC"/>
          </a:solidFill>
          <a:ln w="14288">
            <a:solidFill>
              <a:srgbClr val="ACBACC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2214D6A-9767-45B8-832C-41B4E324102A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CONTROL PLANE NODE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CE43A6-D767-49AF-9C5F-0016DA704F8E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2095500" cy="5334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SERVER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590652-6AD0-4702-9CB1-0591EE1D9584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1381125" cy="533400"/>
          </a:xfrm>
          <a:prstGeom prst="rect">
            <a:avLst/>
          </a:prstGeom>
          <a:solidFill>
            <a:srgbClr val="D4ECF4"/>
          </a:solidFill>
          <a:ln w="14288">
            <a:solidFill>
              <a:srgbClr val="D4ECF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02C"/>
                </a:solidFill>
                <a:latin typeface="Arial"/>
                <a:ea typeface="Arial"/>
                <a:cs typeface="Arial"/>
              </a:rPr>
              <a:t>ETCD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176036-DF84-460F-A526-7525FFB7FB62}"/>
              </a:ext>
            </a:extLst>
          </p:cNvPr>
          <p:cNvSpPr>
            <a:spLocks noGrp="1"/>
          </p:cNvSpPr>
          <p:nvPr/>
        </p:nvSpPr>
        <p:spPr>
          <a:xfrm>
            <a:off x="2447925" y="2266950"/>
            <a:ext cx="2476500" cy="533400"/>
          </a:xfrm>
          <a:prstGeom prst="rect">
            <a:avLst/>
          </a:prstGeom>
          <a:solidFill>
            <a:srgbClr val="252C48"/>
          </a:solidFill>
          <a:ln w="14288">
            <a:solidFill>
              <a:srgbClr val="252C48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CONTROLLER MANAGER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273B9E-FFF2-4268-BED0-3827293007EC}"/>
              </a:ext>
            </a:extLst>
          </p:cNvPr>
          <p:cNvSpPr>
            <a:spLocks noGrp="1"/>
          </p:cNvSpPr>
          <p:nvPr/>
        </p:nvSpPr>
        <p:spPr>
          <a:xfrm>
            <a:off x="7477125" y="2266950"/>
            <a:ext cx="3714750" cy="533400"/>
          </a:xfrm>
          <a:prstGeom prst="rect">
            <a:avLst/>
          </a:prstGeom>
          <a:solidFill>
            <a:srgbClr val="252C48"/>
          </a:solidFill>
          <a:ln w="14288">
            <a:solidFill>
              <a:srgbClr val="252C48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FA472D7-8F3F-4CC2-8686-5EF968478BF1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3562350" cy="2000250"/>
          </a:xfrm>
          <a:prstGeom prst="rect">
            <a:avLst/>
          </a:prstGeom>
          <a:solidFill>
            <a:srgbClr val="F7F3FC"/>
          </a:solidFill>
          <a:ln w="14288">
            <a:solidFill>
              <a:srgbClr val="C1B0D9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9A823AC-F16B-4C3F-903D-9F710A82E52D}"/>
              </a:ext>
            </a:extLst>
          </p:cNvPr>
          <p:cNvSpPr>
            <a:spLocks noGrp="1"/>
          </p:cNvSpPr>
          <p:nvPr/>
        </p:nvSpPr>
        <p:spPr>
          <a:xfrm>
            <a:off x="2638425" y="41243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NODE 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39B2D67-63F5-4E1E-841A-EC0387BA2FE0}"/>
              </a:ext>
            </a:extLst>
          </p:cNvPr>
          <p:cNvSpPr>
            <a:spLocks noGrp="1"/>
          </p:cNvSpPr>
          <p:nvPr/>
        </p:nvSpPr>
        <p:spPr>
          <a:xfrm>
            <a:off x="790575" y="4152900"/>
            <a:ext cx="1714500" cy="6667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NODE AGENT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C233B6-04F0-45F7-BCA9-59C36B1EAA22}"/>
              </a:ext>
            </a:extLst>
          </p:cNvPr>
          <p:cNvSpPr>
            <a:spLocks noGrp="1"/>
          </p:cNvSpPr>
          <p:nvPr/>
        </p:nvSpPr>
        <p:spPr>
          <a:xfrm>
            <a:off x="790575" y="5295900"/>
            <a:ext cx="1714500" cy="523875"/>
          </a:xfrm>
          <a:prstGeom prst="rect">
            <a:avLst/>
          </a:prstGeom>
          <a:solidFill>
            <a:srgbClr val="E3D9F2"/>
          </a:solidFill>
          <a:ln w="14288">
            <a:solidFill>
              <a:srgbClr val="E3D9F2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02C"/>
                </a:solidFill>
                <a:latin typeface="Arial"/>
                <a:ea typeface="Arial"/>
                <a:cs typeface="Arial"/>
              </a:rPr>
              <a:t>KUBELET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79FEFE7-03AC-4A33-B014-FCEF72D2BB3F}"/>
              </a:ext>
            </a:extLst>
          </p:cNvPr>
          <p:cNvSpPr>
            <a:spLocks noGrp="1"/>
          </p:cNvSpPr>
          <p:nvPr/>
        </p:nvSpPr>
        <p:spPr>
          <a:xfrm>
            <a:off x="2705100" y="4695825"/>
            <a:ext cx="1304925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CONTAINER</a:t>
            </a:r>
          </a:p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APPS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A110ABE-20BF-4F6D-9838-5E21C2B301D7}"/>
              </a:ext>
            </a:extLst>
          </p:cNvPr>
          <p:cNvSpPr>
            <a:spLocks noGrp="1"/>
          </p:cNvSpPr>
          <p:nvPr/>
        </p:nvSpPr>
        <p:spPr>
          <a:xfrm>
            <a:off x="4314825" y="4000500"/>
            <a:ext cx="3562350" cy="2000250"/>
          </a:xfrm>
          <a:prstGeom prst="rect">
            <a:avLst/>
          </a:prstGeom>
          <a:solidFill>
            <a:srgbClr val="F7F3FC"/>
          </a:solidFill>
          <a:ln w="14288">
            <a:solidFill>
              <a:srgbClr val="C1B0D9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7770F07-2C6D-48FA-903D-595A69C92044}"/>
              </a:ext>
            </a:extLst>
          </p:cNvPr>
          <p:cNvSpPr>
            <a:spLocks noGrp="1"/>
          </p:cNvSpPr>
          <p:nvPr/>
        </p:nvSpPr>
        <p:spPr>
          <a:xfrm>
            <a:off x="6334125" y="41243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NODE 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67601EA-F380-4879-9550-79CA195C23B8}"/>
              </a:ext>
            </a:extLst>
          </p:cNvPr>
          <p:cNvSpPr>
            <a:spLocks noGrp="1"/>
          </p:cNvSpPr>
          <p:nvPr/>
        </p:nvSpPr>
        <p:spPr>
          <a:xfrm>
            <a:off x="4486275" y="4152900"/>
            <a:ext cx="1714500" cy="6667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NODE AGENT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869F5DE-8CE8-498E-91DE-FECC573052C7}"/>
              </a:ext>
            </a:extLst>
          </p:cNvPr>
          <p:cNvSpPr>
            <a:spLocks noGrp="1"/>
          </p:cNvSpPr>
          <p:nvPr/>
        </p:nvSpPr>
        <p:spPr>
          <a:xfrm>
            <a:off x="4486275" y="5295900"/>
            <a:ext cx="1714500" cy="523875"/>
          </a:xfrm>
          <a:prstGeom prst="rect">
            <a:avLst/>
          </a:prstGeom>
          <a:solidFill>
            <a:srgbClr val="E3D9F2"/>
          </a:solidFill>
          <a:ln w="14288">
            <a:solidFill>
              <a:srgbClr val="E3D9F2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02C"/>
                </a:solidFill>
                <a:latin typeface="Arial"/>
                <a:ea typeface="Arial"/>
                <a:cs typeface="Arial"/>
              </a:rPr>
              <a:t>KUBELET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5456DE-5AE1-4309-9353-E5A758D80BA5}"/>
              </a:ext>
            </a:extLst>
          </p:cNvPr>
          <p:cNvSpPr>
            <a:spLocks noGrp="1"/>
          </p:cNvSpPr>
          <p:nvPr/>
        </p:nvSpPr>
        <p:spPr>
          <a:xfrm>
            <a:off x="6400800" y="4695825"/>
            <a:ext cx="1304925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CONTAINER</a:t>
            </a:r>
          </a:p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APPS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2672E96-3421-4CA6-A897-55649DFA9D31}"/>
              </a:ext>
            </a:extLst>
          </p:cNvPr>
          <p:cNvSpPr>
            <a:spLocks noGrp="1"/>
          </p:cNvSpPr>
          <p:nvPr/>
        </p:nvSpPr>
        <p:spPr>
          <a:xfrm>
            <a:off x="8010525" y="4000500"/>
            <a:ext cx="3562350" cy="2000250"/>
          </a:xfrm>
          <a:prstGeom prst="rect">
            <a:avLst/>
          </a:prstGeom>
          <a:solidFill>
            <a:srgbClr val="F7F3FC"/>
          </a:solidFill>
          <a:ln w="14288">
            <a:solidFill>
              <a:srgbClr val="C1B0D9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A21886D-3648-4002-9EDD-AF3B4DF5AB7F}"/>
              </a:ext>
            </a:extLst>
          </p:cNvPr>
          <p:cNvSpPr>
            <a:spLocks noGrp="1"/>
          </p:cNvSpPr>
          <p:nvPr/>
        </p:nvSpPr>
        <p:spPr>
          <a:xfrm>
            <a:off x="10029825" y="41243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NODE X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8909874-8B29-42E7-9248-B2B504E4DA65}"/>
              </a:ext>
            </a:extLst>
          </p:cNvPr>
          <p:cNvSpPr>
            <a:spLocks noGrp="1"/>
          </p:cNvSpPr>
          <p:nvPr/>
        </p:nvSpPr>
        <p:spPr>
          <a:xfrm>
            <a:off x="8181975" y="4152900"/>
            <a:ext cx="1714500" cy="6667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NODE AGENT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04ABA18-3301-4CE7-A81E-E5B93C8E5D48}"/>
              </a:ext>
            </a:extLst>
          </p:cNvPr>
          <p:cNvSpPr>
            <a:spLocks noGrp="1"/>
          </p:cNvSpPr>
          <p:nvPr/>
        </p:nvSpPr>
        <p:spPr>
          <a:xfrm>
            <a:off x="8181975" y="5295900"/>
            <a:ext cx="1714500" cy="523875"/>
          </a:xfrm>
          <a:prstGeom prst="rect">
            <a:avLst/>
          </a:prstGeom>
          <a:solidFill>
            <a:srgbClr val="E3D9F2"/>
          </a:solidFill>
          <a:ln w="14288">
            <a:solidFill>
              <a:srgbClr val="E3D9F2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02C"/>
                </a:solidFill>
                <a:latin typeface="Arial"/>
                <a:ea typeface="Arial"/>
                <a:cs typeface="Arial"/>
              </a:rPr>
              <a:t>KUBELET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8F21961-5E91-4DD3-9CC3-648643D83E5E}"/>
              </a:ext>
            </a:extLst>
          </p:cNvPr>
          <p:cNvSpPr>
            <a:spLocks noGrp="1"/>
          </p:cNvSpPr>
          <p:nvPr/>
        </p:nvSpPr>
        <p:spPr>
          <a:xfrm>
            <a:off x="10096500" y="4695825"/>
            <a:ext cx="1304925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FFFFFF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CONTAINER</a:t>
            </a:r>
          </a:p>
          <a:p>
            <a:pPr algn="ctr">
              <a:defRPr sz="135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02C"/>
                </a:solidFill>
                <a:latin typeface="Arial"/>
                <a:ea typeface="Arial"/>
                <a:cs typeface="Arial"/>
              </a:rPr>
              <a:t>APPS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99AE3B1-A274-460A-B27D-B198C212DA77}"/>
              </a:ext>
            </a:extLst>
          </p:cNvPr>
          <p:cNvSpPr>
            <a:spLocks noGrp="1"/>
          </p:cNvSpPr>
          <p:nvPr/>
        </p:nvSpPr>
        <p:spPr>
          <a:xfrm>
            <a:off x="4381500" y="3228975"/>
            <a:ext cx="3619500" cy="504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CLUSTER AGENT · NODE X</a:t>
            </a:r>
          </a:p>
        </p:txBody>
      </p:sp>
      <p:cxnSp>
        <p:nvCxnSpPr>
          <p:cNvPr id="57" name="Conector de Seta Reta 56"/>
          <p:cNvCxnSpPr>
            <a:stCxn id="23" idx="0"/>
            <a:endCxn id="4" idx="2"/>
          </p:cNvCxnSpPr>
          <p:nvPr/>
        </p:nvCxnSpPr>
        <p:spPr>
          <a:xfrm flipV="1">
            <a:off x="6191250" y="2800350"/>
            <a:ext cx="0" cy="428625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cxnSp>
        <p:nvCxnSpPr>
          <p:cNvPr id="58" name="Conector de Seta Reta 57"/>
          <p:cNvCxnSpPr>
            <a:stCxn id="11" idx="0"/>
            <a:endCxn id="10" idx="2"/>
          </p:cNvCxnSpPr>
          <p:nvPr/>
        </p:nvCxnSpPr>
        <p:spPr>
          <a:xfrm flipV="1">
            <a:off x="1647825" y="4819650"/>
            <a:ext cx="0" cy="4762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59" name="Conector de Seta Reta 58"/>
          <p:cNvCxnSpPr>
            <a:stCxn id="10" idx="0"/>
            <a:endCxn id="23" idx="2"/>
          </p:cNvCxnSpPr>
          <p:nvPr/>
        </p:nvCxnSpPr>
        <p:spPr>
          <a:xfrm flipV="1">
            <a:off x="1647825" y="3733800"/>
            <a:ext cx="4543425" cy="41910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cxnSp>
        <p:nvCxnSpPr>
          <p:cNvPr id="60" name="Conector de Seta Reta 59"/>
          <p:cNvCxnSpPr>
            <a:stCxn id="16" idx="0"/>
            <a:endCxn id="15" idx="2"/>
          </p:cNvCxnSpPr>
          <p:nvPr/>
        </p:nvCxnSpPr>
        <p:spPr>
          <a:xfrm flipV="1">
            <a:off x="5343525" y="4819650"/>
            <a:ext cx="0" cy="4762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61" name="Conector de Seta Reta 60"/>
          <p:cNvCxnSpPr>
            <a:stCxn id="15" idx="0"/>
            <a:endCxn id="23" idx="2"/>
          </p:cNvCxnSpPr>
          <p:nvPr/>
        </p:nvCxnSpPr>
        <p:spPr>
          <a:xfrm flipV="1">
            <a:off x="5343525" y="3733800"/>
            <a:ext cx="847725" cy="41910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cxnSp>
        <p:nvCxnSpPr>
          <p:cNvPr id="62" name="Conector de Seta Reta 61"/>
          <p:cNvCxnSpPr>
            <a:stCxn id="21" idx="0"/>
            <a:endCxn id="20" idx="2"/>
          </p:cNvCxnSpPr>
          <p:nvPr/>
        </p:nvCxnSpPr>
        <p:spPr>
          <a:xfrm flipV="1">
            <a:off x="9039225" y="4819650"/>
            <a:ext cx="0" cy="4762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63" name="Conector de Seta Reta 62"/>
          <p:cNvCxnSpPr>
            <a:stCxn id="20" idx="0"/>
            <a:endCxn id="23" idx="2"/>
          </p:cNvCxnSpPr>
          <p:nvPr/>
        </p:nvCxnSpPr>
        <p:spPr>
          <a:xfrm flipH="1" flipV="1">
            <a:off x="6191250" y="3733800"/>
            <a:ext cx="2847975" cy="41910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9F70A27C-E740-4D8E-A257-29F3E7E5F9AE}"/>
              </a:ext>
            </a:extLst>
          </p:cNvPr>
          <p:cNvSpPr>
            <a:spLocks noGrp="1"/>
          </p:cNvSpPr>
          <p:nvPr/>
        </p:nvSpPr>
        <p:spPr>
          <a:xfrm>
            <a:off x="762000" y="611505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Kubelets também se comunicam diretamente com o API Server.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181FCF6-471E-4AC6-8921-79C1ACD54CA4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154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6AE3D71-7EB8-4646-8EDA-BDA00D4E7C5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94823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1B4FCB0A-B212-4AE3-811A-2D1CA9D1D4D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De hosts para infraestrutura dinâmica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F08678A-8D29-4C4F-BA80-300AFF1716B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Monitoramento contextualizado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80A5D7-B1EE-49B2-A292-A742F39DC776}"/>
              </a:ext>
            </a:extLst>
          </p:cNvPr>
          <p:cNvSpPr>
            <a:spLocks noGrp="1"/>
          </p:cNvSpPr>
          <p:nvPr/>
        </p:nvSpPr>
        <p:spPr>
          <a:xfrm>
            <a:off x="1333500" y="2238375"/>
            <a:ext cx="95250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5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Metadados + Topologia + Propriedade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570234-92FB-489D-A7E7-9F98A9D15D1D}"/>
              </a:ext>
            </a:extLst>
          </p:cNvPr>
          <p:cNvSpPr>
            <a:spLocks noGrp="1"/>
          </p:cNvSpPr>
          <p:nvPr/>
        </p:nvSpPr>
        <p:spPr>
          <a:xfrm>
            <a:off x="3381375" y="3028950"/>
            <a:ext cx="5429250" cy="1352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env:prod</a:t>
            </a:r>
          </a:p>
          <a:p>
            <a:pPr algn="ctr">
              <a:defRPr sz="20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service:checkout</a:t>
            </a:r>
          </a:p>
          <a:p>
            <a:pPr algn="ctr">
              <a:defRPr sz="2025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team:payments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B6C222-A8D5-4B88-BD76-95D9C09B04AD}"/>
              </a:ext>
            </a:extLst>
          </p:cNvPr>
          <p:cNvSpPr>
            <a:spLocks noGrp="1"/>
          </p:cNvSpPr>
          <p:nvPr/>
        </p:nvSpPr>
        <p:spPr>
          <a:xfrm>
            <a:off x="1000125" y="4686300"/>
            <a:ext cx="2238375" cy="6286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9388BC2-EB12-47AF-95B3-9C98D58C13B4}"/>
              </a:ext>
            </a:extLst>
          </p:cNvPr>
          <p:cNvSpPr>
            <a:spLocks noGrp="1"/>
          </p:cNvSpPr>
          <p:nvPr/>
        </p:nvSpPr>
        <p:spPr>
          <a:xfrm>
            <a:off x="3695700" y="4686300"/>
            <a:ext cx="2238375" cy="6286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72F731-0E59-4832-A51B-F653E7D2620E}"/>
              </a:ext>
            </a:extLst>
          </p:cNvPr>
          <p:cNvSpPr>
            <a:spLocks noGrp="1"/>
          </p:cNvSpPr>
          <p:nvPr/>
        </p:nvSpPr>
        <p:spPr>
          <a:xfrm>
            <a:off x="6391275" y="4686300"/>
            <a:ext cx="2238375" cy="6286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Pods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C750AE-5D53-4E39-BD69-8ECC6E7174A0}"/>
              </a:ext>
            </a:extLst>
          </p:cNvPr>
          <p:cNvSpPr>
            <a:spLocks noGrp="1"/>
          </p:cNvSpPr>
          <p:nvPr/>
        </p:nvSpPr>
        <p:spPr>
          <a:xfrm>
            <a:off x="9086850" y="4686300"/>
            <a:ext cx="2238375" cy="6286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Contêineres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99E8053-9F90-41CA-9640-49F0EB3A5B03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O agente começa a anexar contexto, em vez de apenas telemetria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872206E-BE96-46EC-83B3-0F89DC4256D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E2118A2-006D-4FEB-9F3A-FAB0D187816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7584542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72C39FB-297F-4912-89DD-C097AB07CC5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Ambientes serverless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B5D47B-259D-481E-B495-195B0611C3F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Microsoft Azure Functions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7FE391-3138-41A8-B96A-F629DCF1B8DC}"/>
              </a:ext>
            </a:extLst>
          </p:cNvPr>
          <p:cNvSpPr>
            <a:spLocks noGrp="1"/>
          </p:cNvSpPr>
          <p:nvPr/>
        </p:nvSpPr>
        <p:spPr>
          <a:xfrm>
            <a:off x="44132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AWS Lambda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D58CFA-91FE-413E-9191-A8A5DB27F104}"/>
              </a:ext>
            </a:extLst>
          </p:cNvPr>
          <p:cNvSpPr>
            <a:spLocks noGrp="1"/>
          </p:cNvSpPr>
          <p:nvPr/>
        </p:nvSpPr>
        <p:spPr>
          <a:xfrm>
            <a:off x="8121650" y="1809750"/>
            <a:ext cx="3346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Google Cloud Run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F2BE36-B514-4D35-96D7-D50CCE4B9A9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F6DE7A5-BCA5-493D-B62D-99209CAA2C3B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3181087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A27840EF-D416-41D8-9147-1001FE4FF72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AWS Lambda e Datadog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4707E4-07A4-4426-8C9F-2A82B9E3A067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2131219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AWS Lambda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D78ED72-E6D2-44A9-8CE9-40D8C881A878}"/>
              </a:ext>
            </a:extLst>
          </p:cNvPr>
          <p:cNvSpPr>
            <a:spLocks noGrp="1"/>
          </p:cNvSpPr>
          <p:nvPr/>
        </p:nvSpPr>
        <p:spPr>
          <a:xfrm>
            <a:off x="3655219" y="2857500"/>
            <a:ext cx="2131219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Amazon CloudWatch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C224EE-A229-4548-B67E-26A9CA95749C}"/>
              </a:ext>
            </a:extLst>
          </p:cNvPr>
          <p:cNvSpPr>
            <a:spLocks noGrp="1"/>
          </p:cNvSpPr>
          <p:nvPr/>
        </p:nvSpPr>
        <p:spPr>
          <a:xfrm>
            <a:off x="6405563" y="2857500"/>
            <a:ext cx="2131219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AWS Lambda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6F2E6C-BB46-4147-A8CF-7168B030404C}"/>
              </a:ext>
            </a:extLst>
          </p:cNvPr>
          <p:cNvSpPr>
            <a:spLocks noGrp="1"/>
          </p:cNvSpPr>
          <p:nvPr/>
        </p:nvSpPr>
        <p:spPr>
          <a:xfrm>
            <a:off x="9155906" y="2857500"/>
            <a:ext cx="2131219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cxnSp>
        <p:nvCxnSpPr>
          <p:cNvPr id="16" name="Conector de Seta Reta 15"/>
          <p:cNvCxnSpPr>
            <a:stCxn id="2" idx="3"/>
            <a:endCxn id="3" idx="1"/>
          </p:cNvCxnSpPr>
          <p:nvPr/>
        </p:nvCxnSpPr>
        <p:spPr>
          <a:xfrm>
            <a:off x="3036094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17" name="Conector de Seta Reta 16"/>
          <p:cNvCxnSpPr>
            <a:stCxn id="4" idx="1"/>
            <a:endCxn id="3" idx="3"/>
          </p:cNvCxnSpPr>
          <p:nvPr/>
        </p:nvCxnSpPr>
        <p:spPr>
          <a:xfrm flipH="1">
            <a:off x="5786438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18" name="Conector de Seta Reta 17"/>
          <p:cNvCxnSpPr>
            <a:stCxn id="4" idx="3"/>
            <a:endCxn id="5" idx="1"/>
          </p:cNvCxnSpPr>
          <p:nvPr/>
        </p:nvCxnSpPr>
        <p:spPr>
          <a:xfrm>
            <a:off x="8536782" y="3476625"/>
            <a:ext cx="619124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C77EC15-7324-46BE-8DFC-93CC0A6E900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F1E01DC-7EF1-4DD0-AA2E-53A345405F9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6994530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391C4A1C-0AC6-4FC1-A23E-0D1EB27BCA7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Instrumenting AWS serverless applications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CB3AB59-878D-4DEE-8299-40C3692C222A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3095625" cy="19050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Lambda Extension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C21F94-7927-40D6-AF9C-715944459210}"/>
              </a:ext>
            </a:extLst>
          </p:cNvPr>
          <p:cNvSpPr>
            <a:spLocks noGrp="1"/>
          </p:cNvSpPr>
          <p:nvPr/>
        </p:nvSpPr>
        <p:spPr>
          <a:xfrm>
            <a:off x="9020175" y="2971800"/>
            <a:ext cx="2247900" cy="1190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cxnSp>
        <p:nvCxnSpPr>
          <p:cNvPr id="15" name="Conector de Seta Reta 14"/>
          <p:cNvCxnSpPr>
            <a:stCxn id="2" idx="3"/>
            <a:endCxn id="3" idx="1"/>
          </p:cNvCxnSpPr>
          <p:nvPr/>
        </p:nvCxnSpPr>
        <p:spPr>
          <a:xfrm flipV="1">
            <a:off x="7810500" y="3567113"/>
            <a:ext cx="1209675" cy="1428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4F97D488-795E-4A73-A0DD-C849B58B1D4D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705100" cy="83820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Your Lambda</a:t>
            </a: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cxnSp>
        <p:nvCxnSpPr>
          <p:cNvPr id="17" name="Conector de Seta Reta 16"/>
          <p:cNvCxnSpPr>
            <a:stCxn id="5" idx="3"/>
            <a:endCxn id="2" idx="1"/>
          </p:cNvCxnSpPr>
          <p:nvPr/>
        </p:nvCxnSpPr>
        <p:spPr>
          <a:xfrm>
            <a:off x="3467100" y="2609850"/>
            <a:ext cx="1247775" cy="971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2E82BD72-796A-4686-9D1A-548B7C72A9B2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2705100" cy="157162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 Lambda Library</a:t>
            </a: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Traces, enhanced metrics, custom metrics</a:t>
            </a:r>
          </a:p>
        </p:txBody>
      </p:sp>
      <p:cxnSp>
        <p:nvCxnSpPr>
          <p:cNvPr id="19" name="Conector de Seta Reta 18"/>
          <p:cNvCxnSpPr>
            <a:stCxn id="7" idx="3"/>
            <a:endCxn id="2" idx="1"/>
          </p:cNvCxnSpPr>
          <p:nvPr/>
        </p:nvCxnSpPr>
        <p:spPr>
          <a:xfrm flipV="1">
            <a:off x="3467100" y="3581400"/>
            <a:ext cx="1247775" cy="101441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CEE0B694-B450-41ED-81EA-2B94B99C8281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Pushes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070337-C2D0-4AA3-9D02-CE5A5A6E596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60B3878-DAF3-416D-B36B-960E9D19BAB2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119880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8C8BA07-1A5F-48A5-9B6D-04165D202FE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Observabilidade de funções serverless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5BDC94D-7AC9-40B1-AC3F-114ABE30D640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Métricas da função e das invocações   ·   Traces e erros correlacionados   ·   Visualização das dependências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8FAFAC-0651-486C-8942-2FCC67C4AAE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7B376B-19CA-4261-B94F-9198C7560614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21145754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36F30EE7-1DF6-4938-A149-48C76D7641A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Um mundo sem servidores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0785697-2E1B-49DF-8166-461AE5A5C0A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De hosts persistentes a invocações efêmeras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5E26FFE-B294-4A3E-91B1-5220A37A83C3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2020 a 2022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81B1F4-E4D2-4C6D-83DF-C2D14C6F733C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9332B9-14BC-4CC3-B2B9-B7CF0306F610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Daemon de host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350692-BA09-4D55-8444-70C6B606F6EA}"/>
              </a:ext>
            </a:extLst>
          </p:cNvPr>
          <p:cNvSpPr>
            <a:spLocks noGrp="1"/>
          </p:cNvSpPr>
          <p:nvPr/>
        </p:nvSpPr>
        <p:spPr>
          <a:xfrm>
            <a:off x="704850" y="364807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Sempre ativo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306C7F-74DD-4E25-99F7-876E593F5918}"/>
              </a:ext>
            </a:extLst>
          </p:cNvPr>
          <p:cNvSpPr>
            <a:spLocks noGrp="1"/>
          </p:cNvSpPr>
          <p:nvPr/>
        </p:nvSpPr>
        <p:spPr>
          <a:xfrm>
            <a:off x="704850" y="424815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Coleta contínua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C86BC3-F0F9-4CC5-BDC1-36FF08F94833}"/>
              </a:ext>
            </a:extLst>
          </p:cNvPr>
          <p:cNvSpPr>
            <a:spLocks noGrp="1"/>
          </p:cNvSpPr>
          <p:nvPr/>
        </p:nvSpPr>
        <p:spPr>
          <a:xfrm>
            <a:off x="704850" y="484822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Identidade estável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072736A-0185-41E2-9E49-0E654C186DDC}"/>
              </a:ext>
            </a:extLst>
          </p:cNvPr>
          <p:cNvSpPr>
            <a:spLocks noGrp="1"/>
          </p:cNvSpPr>
          <p:nvPr/>
        </p:nvSpPr>
        <p:spPr>
          <a:xfrm>
            <a:off x="6267450" y="2305050"/>
            <a:ext cx="52006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C2E02A-B100-49CF-A2E5-7CCF3B19DABA}"/>
              </a:ext>
            </a:extLst>
          </p:cNvPr>
          <p:cNvSpPr>
            <a:spLocks noGrp="1"/>
          </p:cNvSpPr>
          <p:nvPr/>
        </p:nvSpPr>
        <p:spPr>
          <a:xfrm>
            <a:off x="6267450" y="304800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Serverless: sob demanda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20FA167-83E7-4A30-BD25-EE0573CF2946}"/>
              </a:ext>
            </a:extLst>
          </p:cNvPr>
          <p:cNvSpPr>
            <a:spLocks noGrp="1"/>
          </p:cNvSpPr>
          <p:nvPr/>
        </p:nvSpPr>
        <p:spPr>
          <a:xfrm>
            <a:off x="6267450" y="364807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Contêineres: de curta duração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61B844-F96C-40D5-ACA6-84EADD6CB237}"/>
              </a:ext>
            </a:extLst>
          </p:cNvPr>
          <p:cNvSpPr>
            <a:spLocks noGrp="1"/>
          </p:cNvSpPr>
          <p:nvPr/>
        </p:nvSpPr>
        <p:spPr>
          <a:xfrm>
            <a:off x="6267450" y="4248150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Hosts: sempre ativo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E58313D-F466-40C3-8170-4A0D32D27D4B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A observabilidade precisava ter baixo overhead, ter escopo de evento e ser invisível para o proprietário da função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DA847D-8FD5-450D-855B-D5A931A4BDB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2F982F-5758-4A35-917D-0C29FC68726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7286390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2460758-381C-47E1-A4EB-360F32F4EE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Processar logs em grande escala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804035"/>
            <a:ext cx="10972800" cy="401193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6808A1-51F8-48E4-A1FD-D8D52FDE19F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4AE4BB-4EC7-4B26-8879-BFA1922310E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7316808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3D918A0-B494-4DE9-BEFF-7378EBC3E23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Regras de processamento de logs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F59B36F-2E9D-4E35-A873-D5036AC9FD97}"/>
              </a:ext>
            </a:extLst>
          </p:cNvPr>
          <p:cNvSpPr>
            <a:spLocks noGrp="1"/>
          </p:cNvSpPr>
          <p:nvPr/>
        </p:nvSpPr>
        <p:spPr>
          <a:xfrm>
            <a:off x="790575" y="1647825"/>
            <a:ext cx="10610850" cy="4191000"/>
          </a:xfrm>
          <a:prstGeom prst="rect">
            <a:avLst/>
          </a:prstGeom>
          <a:solidFill>
            <a:srgbClr val="211B35"/>
          </a:solidFill>
          <a:ln w="14288">
            <a:solidFill>
              <a:srgbClr val="211B35"/>
            </a:solidFill>
          </a:ln>
        </p:spPr>
        <p:txBody>
          <a:bodyPr lIns="323850" tIns="171450" rIns="238125" bIns="171450" anchor="ctr">
            <a:noAutofit/>
          </a:bodyPr>
          <a:lstStyle/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logs: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- type: file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path: /my/test/file.log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service: cardpayment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source: java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log_processing_rules: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  # redact credit card numbers from logs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  - type: mask_sequences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    name: mask_credit_cards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    replace_placeholder: "[masked_credit_card]"</a:t>
            </a:r>
          </a:p>
          <a:p>
            <a:pPr algn="l">
              <a:defRPr sz="1800">
                <a:solidFill>
                  <a:srgbClr val="F2EF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2EFF8"/>
                </a:solidFill>
                <a:latin typeface="Arial"/>
                <a:ea typeface="Arial"/>
                <a:cs typeface="Arial"/>
              </a:rPr>
              <a:t>        pattern: (?:4[0-9]{12}(?:[0-9]{3})?|[25][1…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A9D2BCA-7064-45C8-A4CC-A3F4F7B1A50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CA1837-DE9A-4C90-9B0E-7EC66981782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6250810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3A065E2-2924-4207-AD79-97A49F185F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Configurações distribuídas de logs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F365ACB-DDA6-42F0-98DC-D67852A5872C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Múltiplos arquivos e regras de configuração distribuídos pelo ambiente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2DE21D-F77E-4403-8CF2-FCAAC401968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C39C70-B22F-418B-B7E3-AA9379E15F0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5322344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6EBDA0B5-BF3F-4362-9ABE-3F670B01A47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Controle de configuração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33D8693-575E-43A3-80C7-ED33C278A66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Configuração remota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CC4D01-545B-4F61-B914-3DB9FA1A05C5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A804229-F9BC-4930-9207-D0EAFE3AE07C}"/>
              </a:ext>
            </a:extLst>
          </p:cNvPr>
          <p:cNvSpPr>
            <a:spLocks noGrp="1"/>
          </p:cNvSpPr>
          <p:nvPr/>
        </p:nvSpPr>
        <p:spPr>
          <a:xfrm>
            <a:off x="7096125" y="2619375"/>
            <a:ext cx="4095750" cy="2000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de controle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Configuração remota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3F2C5C-558D-4688-9725-009AD44CA54D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A</a:t>
            </a:r>
          </a:p>
        </p:txBody>
      </p:sp>
      <p:cxnSp>
        <p:nvCxnSpPr>
          <p:cNvPr id="19" name="Conector de Seta Reta 18"/>
          <p:cNvCxnSpPr>
            <a:stCxn id="4" idx="1"/>
            <a:endCxn id="5" idx="3"/>
          </p:cNvCxnSpPr>
          <p:nvPr/>
        </p:nvCxnSpPr>
        <p:spPr>
          <a:xfrm flipH="1" flipV="1">
            <a:off x="4000500" y="2647950"/>
            <a:ext cx="3095625" cy="971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7A6297A6-34D4-4BC3-AA89-EE0EC27DB540}"/>
              </a:ext>
            </a:extLst>
          </p:cNvPr>
          <p:cNvSpPr>
            <a:spLocks noGrp="1"/>
          </p:cNvSpPr>
          <p:nvPr/>
        </p:nvSpPr>
        <p:spPr>
          <a:xfrm>
            <a:off x="904875" y="336232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B</a:t>
            </a:r>
          </a:p>
        </p:txBody>
      </p:sp>
      <p:cxnSp>
        <p:nvCxnSpPr>
          <p:cNvPr id="21" name="Conector de Seta Reta 20"/>
          <p:cNvCxnSpPr>
            <a:stCxn id="4" idx="1"/>
            <a:endCxn id="7" idx="3"/>
          </p:cNvCxnSpPr>
          <p:nvPr/>
        </p:nvCxnSpPr>
        <p:spPr>
          <a:xfrm flipH="1">
            <a:off x="4000500" y="3619500"/>
            <a:ext cx="3095625" cy="15240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95128675-B18A-4923-83FD-FC2BCB4F6A1B}"/>
              </a:ext>
            </a:extLst>
          </p:cNvPr>
          <p:cNvSpPr>
            <a:spLocks noGrp="1"/>
          </p:cNvSpPr>
          <p:nvPr/>
        </p:nvSpPr>
        <p:spPr>
          <a:xfrm>
            <a:off x="904875" y="448627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C</a:t>
            </a:r>
          </a:p>
        </p:txBody>
      </p:sp>
      <p:cxnSp>
        <p:nvCxnSpPr>
          <p:cNvPr id="23" name="Conector de Seta Reta 22"/>
          <p:cNvCxnSpPr>
            <a:stCxn id="4" idx="1"/>
            <a:endCxn id="9" idx="3"/>
          </p:cNvCxnSpPr>
          <p:nvPr/>
        </p:nvCxnSpPr>
        <p:spPr>
          <a:xfrm flipH="1">
            <a:off x="4000500" y="3619500"/>
            <a:ext cx="3095625" cy="12763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FA5F47-F778-4C50-B76E-D5C2E6050351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Telemetria em tempo real e controle de segurança emitidos de forma remota e segura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D8F47C-9723-459C-ABAA-7E0DA4844C6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0E8C220-8F85-4057-9996-767F1F1487D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4293869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B3D3BF9-AF0C-4F5C-BE2F-C56DE854FDA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Pipeline de processamento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C11A1A7-ECE4-4AED-BE79-E1E3016905A3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Origem: Datadog Agent   ·   Sensitive Data Scanner, dedupe, filtros, edição e amostragem   ·   Destino: Datadog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871A0E-8D53-4CF8-B7F7-5D963E8E591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4D934A-8372-4A71-A0B1-B7863E4AEE79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3533779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C232578-C1A4-44A4-AE98-63DAB1E1434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Gerenciar agentes em grande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282973F-77AB-48EF-9C5E-08F4D2817D82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Fleet Automation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DC9B8E7-F66B-4805-BAD1-FA7855D51EBC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C6A0CCA-9907-4B5D-BAE9-A3640FC68535}"/>
              </a:ext>
            </a:extLst>
          </p:cNvPr>
          <p:cNvSpPr>
            <a:spLocks noGrp="1"/>
          </p:cNvSpPr>
          <p:nvPr/>
        </p:nvSpPr>
        <p:spPr>
          <a:xfrm>
            <a:off x="7096125" y="2619375"/>
            <a:ext cx="4095750" cy="2000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de controle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Fleet Automation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UI + API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FB1A46-5D0B-4CC3-9C15-24A039EB82E4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1</a:t>
            </a:r>
          </a:p>
        </p:txBody>
      </p:sp>
      <p:cxnSp>
        <p:nvCxnSpPr>
          <p:cNvPr id="19" name="Conector de Seta Reta 18"/>
          <p:cNvCxnSpPr>
            <a:stCxn id="4" idx="1"/>
            <a:endCxn id="5" idx="3"/>
          </p:cNvCxnSpPr>
          <p:nvPr/>
        </p:nvCxnSpPr>
        <p:spPr>
          <a:xfrm flipH="1" flipV="1">
            <a:off x="4000500" y="2647950"/>
            <a:ext cx="3095625" cy="971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1BA13289-1282-4787-B9C5-A8CC1E5BC518}"/>
              </a:ext>
            </a:extLst>
          </p:cNvPr>
          <p:cNvSpPr>
            <a:spLocks noGrp="1"/>
          </p:cNvSpPr>
          <p:nvPr/>
        </p:nvSpPr>
        <p:spPr>
          <a:xfrm>
            <a:off x="904875" y="336232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cxnSp>
        <p:nvCxnSpPr>
          <p:cNvPr id="21" name="Conector de Seta Reta 20"/>
          <p:cNvCxnSpPr>
            <a:stCxn id="4" idx="1"/>
            <a:endCxn id="7" idx="3"/>
          </p:cNvCxnSpPr>
          <p:nvPr/>
        </p:nvCxnSpPr>
        <p:spPr>
          <a:xfrm flipH="1">
            <a:off x="4000500" y="3619500"/>
            <a:ext cx="3095625" cy="15240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54089DA-781B-44AB-B030-9C758B5AA540}"/>
              </a:ext>
            </a:extLst>
          </p:cNvPr>
          <p:cNvSpPr>
            <a:spLocks noGrp="1"/>
          </p:cNvSpPr>
          <p:nvPr/>
        </p:nvSpPr>
        <p:spPr>
          <a:xfrm>
            <a:off x="904875" y="4486275"/>
            <a:ext cx="3095625" cy="8191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N</a:t>
            </a:r>
          </a:p>
        </p:txBody>
      </p:sp>
      <p:cxnSp>
        <p:nvCxnSpPr>
          <p:cNvPr id="23" name="Conector de Seta Reta 22"/>
          <p:cNvCxnSpPr>
            <a:stCxn id="4" idx="1"/>
            <a:endCxn id="9" idx="3"/>
          </p:cNvCxnSpPr>
          <p:nvPr/>
        </p:nvCxnSpPr>
        <p:spPr>
          <a:xfrm flipH="1">
            <a:off x="4000500" y="3619500"/>
            <a:ext cx="3095625" cy="12763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396364-EC13-4145-96C5-0BD2EAF54F7D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Gerencie configuração, atualizações, solução de problemas e ciclo de vida em muitos agentes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4CF7362-4F87-4F9B-A1A9-21D4B80881F1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166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566DF9-B184-4E8C-96D0-8E5C4FB312F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904633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E476C9-AE62-494A-8D82-EF7CA04B6F31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03632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35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OpenTelemetry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6E1EB5-22E9-415B-A6C1-D82ADA455B3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0D0C7C0-BCDB-4B64-A19A-674604203397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20874515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6D15FF89-AA21-486D-BB61-5A06D94CE7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B8B3AE-117E-444E-8549-0E5490D47727}"/>
              </a:ext>
            </a:extLst>
          </p:cNvPr>
          <p:cNvSpPr>
            <a:spLocks noGrp="1"/>
          </p:cNvSpPr>
          <p:nvPr/>
        </p:nvSpPr>
        <p:spPr>
          <a:xfrm>
            <a:off x="476250" y="257175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Dispositivos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24F3B4D-D8B8-413F-AE26-C16810F64A88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Servidores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F14D04-D186-4B39-8D65-8A403881E1A5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Aplicações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3A9BB7-0FFA-4440-B50E-3DA617B54385}"/>
              </a:ext>
            </a:extLst>
          </p:cNvPr>
          <p:cNvSpPr>
            <a:spLocks noGrp="1"/>
          </p:cNvSpPr>
          <p:nvPr/>
        </p:nvSpPr>
        <p:spPr>
          <a:xfrm>
            <a:off x="2857500" y="1933575"/>
            <a:ext cx="6810375" cy="3981450"/>
          </a:xfrm>
          <a:prstGeom prst="rect">
            <a:avLst/>
          </a:prstGeom>
          <a:solidFill>
            <a:srgbClr val="FFFFFF"/>
          </a:solidFill>
          <a:ln w="14288">
            <a:solidFill>
              <a:srgbClr val="632FC4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CAF01D-F8A4-4E3E-A251-FEF8E9C8A031}"/>
              </a:ext>
            </a:extLst>
          </p:cNvPr>
          <p:cNvSpPr>
            <a:spLocks noGrp="1"/>
          </p:cNvSpPr>
          <p:nvPr/>
        </p:nvSpPr>
        <p:spPr>
          <a:xfrm>
            <a:off x="3333750" y="600075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B17A75-7BC5-465C-B4C1-1D57689C428D}"/>
              </a:ext>
            </a:extLst>
          </p:cNvPr>
          <p:cNvSpPr>
            <a:spLocks noGrp="1"/>
          </p:cNvSpPr>
          <p:nvPr/>
        </p:nvSpPr>
        <p:spPr>
          <a:xfrm>
            <a:off x="30289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3D6EB3E-9F67-4E85-B54A-2EDC0049F419}"/>
              </a:ext>
            </a:extLst>
          </p:cNvPr>
          <p:cNvSpPr>
            <a:spLocks noGrp="1"/>
          </p:cNvSpPr>
          <p:nvPr/>
        </p:nvSpPr>
        <p:spPr>
          <a:xfrm>
            <a:off x="52387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027-942C-4B13-943A-27D591E47BCB}"/>
              </a:ext>
            </a:extLst>
          </p:cNvPr>
          <p:cNvSpPr>
            <a:spLocks noGrp="1"/>
          </p:cNvSpPr>
          <p:nvPr/>
        </p:nvSpPr>
        <p:spPr>
          <a:xfrm>
            <a:off x="51435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9FC591-5998-4CA5-A9AE-FFCB947D294E}"/>
              </a:ext>
            </a:extLst>
          </p:cNvPr>
          <p:cNvSpPr>
            <a:spLocks noGrp="1"/>
          </p:cNvSpPr>
          <p:nvPr/>
        </p:nvSpPr>
        <p:spPr>
          <a:xfrm>
            <a:off x="74485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0DDA54F-C6AC-4EB2-8844-85F8DB307FCE}"/>
              </a:ext>
            </a:extLst>
          </p:cNvPr>
          <p:cNvSpPr>
            <a:spLocks noGrp="1"/>
          </p:cNvSpPr>
          <p:nvPr/>
        </p:nvSpPr>
        <p:spPr>
          <a:xfrm>
            <a:off x="73533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AC70C08-8C58-49AD-A7AD-A6CFF235409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CCD55CE-CC32-4CAA-B344-76B047E94C8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3347387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6CC838A1-605E-4BD2-A5DA-0B332B5613F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910DCC-1483-4A62-943D-E0D70D27D4F6}"/>
              </a:ext>
            </a:extLst>
          </p:cNvPr>
          <p:cNvSpPr>
            <a:spLocks noGrp="1"/>
          </p:cNvSpPr>
          <p:nvPr/>
        </p:nvSpPr>
        <p:spPr>
          <a:xfrm>
            <a:off x="476250" y="257175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Dispositivos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4F990D-9B86-43DA-ADD8-21C95915EB93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Servidores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5EF4E6-B359-4680-B2A2-489CC5278EF2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Aplicações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5A5D5F-EF11-4F39-A333-F856D9CD0F38}"/>
              </a:ext>
            </a:extLst>
          </p:cNvPr>
          <p:cNvSpPr>
            <a:spLocks noGrp="1"/>
          </p:cNvSpPr>
          <p:nvPr/>
        </p:nvSpPr>
        <p:spPr>
          <a:xfrm>
            <a:off x="2857500" y="1933575"/>
            <a:ext cx="6810375" cy="3981450"/>
          </a:xfrm>
          <a:prstGeom prst="rect">
            <a:avLst/>
          </a:prstGeom>
          <a:solidFill>
            <a:srgbClr val="FFFFFF"/>
          </a:solidFill>
          <a:ln w="14288">
            <a:solidFill>
              <a:srgbClr val="632FC4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74BCFE-E2BA-4B32-8951-A81A0213E759}"/>
              </a:ext>
            </a:extLst>
          </p:cNvPr>
          <p:cNvSpPr>
            <a:spLocks noGrp="1"/>
          </p:cNvSpPr>
          <p:nvPr/>
        </p:nvSpPr>
        <p:spPr>
          <a:xfrm>
            <a:off x="3333750" y="600075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861945-7F5E-418C-84B5-AF76AF5D18E3}"/>
              </a:ext>
            </a:extLst>
          </p:cNvPr>
          <p:cNvSpPr>
            <a:spLocks noGrp="1"/>
          </p:cNvSpPr>
          <p:nvPr/>
        </p:nvSpPr>
        <p:spPr>
          <a:xfrm>
            <a:off x="30289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DA14250-D5CC-4F37-A84A-AAEDC6919B2B}"/>
              </a:ext>
            </a:extLst>
          </p:cNvPr>
          <p:cNvSpPr>
            <a:spLocks noGrp="1"/>
          </p:cNvSpPr>
          <p:nvPr/>
        </p:nvSpPr>
        <p:spPr>
          <a:xfrm>
            <a:off x="52387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Processors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14EB60B-183D-42BB-AB0A-9FE33E395049}"/>
              </a:ext>
            </a:extLst>
          </p:cNvPr>
          <p:cNvSpPr>
            <a:spLocks noGrp="1"/>
          </p:cNvSpPr>
          <p:nvPr/>
        </p:nvSpPr>
        <p:spPr>
          <a:xfrm>
            <a:off x="51435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44371C9-7C0C-4372-8C6B-8AB397941318}"/>
              </a:ext>
            </a:extLst>
          </p:cNvPr>
          <p:cNvSpPr>
            <a:spLocks noGrp="1"/>
          </p:cNvSpPr>
          <p:nvPr/>
        </p:nvSpPr>
        <p:spPr>
          <a:xfrm>
            <a:off x="74485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113A98-6E0B-4110-893B-E9357F347704}"/>
              </a:ext>
            </a:extLst>
          </p:cNvPr>
          <p:cNvSpPr>
            <a:spLocks noGrp="1"/>
          </p:cNvSpPr>
          <p:nvPr/>
        </p:nvSpPr>
        <p:spPr>
          <a:xfrm>
            <a:off x="73533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C233415-099E-4CC2-B703-22D635687B14}"/>
              </a:ext>
            </a:extLst>
          </p:cNvPr>
          <p:cNvSpPr>
            <a:spLocks noGrp="1"/>
          </p:cNvSpPr>
          <p:nvPr/>
        </p:nvSpPr>
        <p:spPr>
          <a:xfrm>
            <a:off x="3114675" y="2809875"/>
            <a:ext cx="1704975" cy="98107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73963A-49B1-41D4-9426-98C4A571AC01}"/>
              </a:ext>
            </a:extLst>
          </p:cNvPr>
          <p:cNvSpPr>
            <a:spLocks noGrp="1"/>
          </p:cNvSpPr>
          <p:nvPr/>
        </p:nvSpPr>
        <p:spPr>
          <a:xfrm>
            <a:off x="3114675" y="4352925"/>
            <a:ext cx="1704975" cy="98107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OTLP</a:t>
            </a:r>
          </a:p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B68EA79-A264-4149-851A-9511FFDA01B5}"/>
              </a:ext>
            </a:extLst>
          </p:cNvPr>
          <p:cNvSpPr>
            <a:spLocks noGrp="1"/>
          </p:cNvSpPr>
          <p:nvPr/>
        </p:nvSpPr>
        <p:spPr>
          <a:xfrm>
            <a:off x="5276850" y="2619375"/>
            <a:ext cx="2009775" cy="29908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Filter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Span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Transform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Redaction Processor</a:t>
            </a:r>
          </a:p>
        </p:txBody>
      </p:sp>
      <p:cxnSp>
        <p:nvCxnSpPr>
          <p:cNvPr id="33" name="Conector de Seta Reta 32"/>
          <p:cNvCxnSpPr>
            <a:stCxn id="12" idx="3"/>
            <a:endCxn id="14" idx="1"/>
          </p:cNvCxnSpPr>
          <p:nvPr/>
        </p:nvCxnSpPr>
        <p:spPr>
          <a:xfrm>
            <a:off x="4819650" y="3300413"/>
            <a:ext cx="457200" cy="81438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34" name="Conector de Seta Reta 33"/>
          <p:cNvCxnSpPr>
            <a:stCxn id="13" idx="3"/>
            <a:endCxn id="14" idx="1"/>
          </p:cNvCxnSpPr>
          <p:nvPr/>
        </p:nvCxnSpPr>
        <p:spPr>
          <a:xfrm flipV="1">
            <a:off x="4819650" y="4114800"/>
            <a:ext cx="457200" cy="72866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2EEFA5BB-AFC8-4C8A-AD45-499FA1E6A8BB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169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05FBC21-7268-4178-B638-968C2C1BEC7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8453674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51B4D00E-9994-4078-A3E7-DAC4A6C841F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0B48119-C223-4712-A8C9-CC9E1CE461BC}"/>
              </a:ext>
            </a:extLst>
          </p:cNvPr>
          <p:cNvSpPr>
            <a:spLocks noGrp="1"/>
          </p:cNvSpPr>
          <p:nvPr/>
        </p:nvSpPr>
        <p:spPr>
          <a:xfrm>
            <a:off x="476250" y="257175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Dispositivos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928E531-1880-4265-8F03-A78C5B10B41D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Servidores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F5958F-3E7D-40AE-935F-0B1C536028E6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790700" cy="571500"/>
          </a:xfrm>
          <a:prstGeom prst="rect">
            <a:avLst/>
          </a:prstGeom>
          <a:solidFill>
            <a:srgbClr val="EFE8FA"/>
          </a:solidFill>
          <a:ln w="14288">
            <a:solidFill>
              <a:srgbClr val="EFE8F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Aplicações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1799-F76D-4461-BB7C-574FBA304868}"/>
              </a:ext>
            </a:extLst>
          </p:cNvPr>
          <p:cNvSpPr>
            <a:spLocks noGrp="1"/>
          </p:cNvSpPr>
          <p:nvPr/>
        </p:nvSpPr>
        <p:spPr>
          <a:xfrm>
            <a:off x="2857500" y="1933575"/>
            <a:ext cx="6810375" cy="3981450"/>
          </a:xfrm>
          <a:prstGeom prst="rect">
            <a:avLst/>
          </a:prstGeom>
          <a:solidFill>
            <a:srgbClr val="FFFFFF"/>
          </a:solidFill>
          <a:ln w="14288">
            <a:solidFill>
              <a:srgbClr val="632FC4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9FB6373-423F-44F0-8914-1C8FD8C1845D}"/>
              </a:ext>
            </a:extLst>
          </p:cNvPr>
          <p:cNvSpPr>
            <a:spLocks noGrp="1"/>
          </p:cNvSpPr>
          <p:nvPr/>
        </p:nvSpPr>
        <p:spPr>
          <a:xfrm>
            <a:off x="3333750" y="600075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OpenTelemetry Collector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6C5771A-4B63-43E6-BED1-4767B7BEAC98}"/>
              </a:ext>
            </a:extLst>
          </p:cNvPr>
          <p:cNvSpPr>
            <a:spLocks noGrp="1"/>
          </p:cNvSpPr>
          <p:nvPr/>
        </p:nvSpPr>
        <p:spPr>
          <a:xfrm>
            <a:off x="30289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4F7C671-F0DF-4CFB-8436-956B23642B1C}"/>
              </a:ext>
            </a:extLst>
          </p:cNvPr>
          <p:cNvSpPr>
            <a:spLocks noGrp="1"/>
          </p:cNvSpPr>
          <p:nvPr/>
        </p:nvSpPr>
        <p:spPr>
          <a:xfrm>
            <a:off x="52387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Processors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E70136-BCEC-45BB-8205-BF7585CAAD1A}"/>
              </a:ext>
            </a:extLst>
          </p:cNvPr>
          <p:cNvSpPr>
            <a:spLocks noGrp="1"/>
          </p:cNvSpPr>
          <p:nvPr/>
        </p:nvSpPr>
        <p:spPr>
          <a:xfrm>
            <a:off x="51435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7150A68-E478-4D3F-A590-64C01D33EE16}"/>
              </a:ext>
            </a:extLst>
          </p:cNvPr>
          <p:cNvSpPr>
            <a:spLocks noGrp="1"/>
          </p:cNvSpPr>
          <p:nvPr/>
        </p:nvSpPr>
        <p:spPr>
          <a:xfrm>
            <a:off x="7448550" y="2038350"/>
            <a:ext cx="2009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Exporters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9347E74-8BFC-4C91-9B96-CD02553BDFA8}"/>
              </a:ext>
            </a:extLst>
          </p:cNvPr>
          <p:cNvSpPr>
            <a:spLocks noGrp="1"/>
          </p:cNvSpPr>
          <p:nvPr/>
        </p:nvSpPr>
        <p:spPr>
          <a:xfrm>
            <a:off x="7353300" y="2476500"/>
            <a:ext cx="9525" cy="3171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E78E1C-E84A-4406-8599-8348006817B8}"/>
              </a:ext>
            </a:extLst>
          </p:cNvPr>
          <p:cNvSpPr>
            <a:spLocks noGrp="1"/>
          </p:cNvSpPr>
          <p:nvPr/>
        </p:nvSpPr>
        <p:spPr>
          <a:xfrm>
            <a:off x="3114675" y="2809875"/>
            <a:ext cx="1704975" cy="98107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FE6F4E-1375-42D3-8D9C-3542DAD9999C}"/>
              </a:ext>
            </a:extLst>
          </p:cNvPr>
          <p:cNvSpPr>
            <a:spLocks noGrp="1"/>
          </p:cNvSpPr>
          <p:nvPr/>
        </p:nvSpPr>
        <p:spPr>
          <a:xfrm>
            <a:off x="3114675" y="4352925"/>
            <a:ext cx="1704975" cy="98107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OTLP</a:t>
            </a:r>
          </a:p>
          <a:p>
            <a:pPr algn="ctr">
              <a:defRPr sz="172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32FC4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A71E0A-D028-4CE1-92F9-234A2D9FC46D}"/>
              </a:ext>
            </a:extLst>
          </p:cNvPr>
          <p:cNvSpPr>
            <a:spLocks noGrp="1"/>
          </p:cNvSpPr>
          <p:nvPr/>
        </p:nvSpPr>
        <p:spPr>
          <a:xfrm>
            <a:off x="5276850" y="2619375"/>
            <a:ext cx="2009775" cy="29908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Filter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Span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Transform Processor</a:t>
            </a:r>
          </a:p>
          <a:p>
            <a:endParaRPr sz="1650">
              <a:solidFill>
                <a:srgbClr val="632FC4"/>
              </a:solidFill>
              <a:latin typeface="Arial"/>
              <a:ea typeface="Arial"/>
              <a:cs typeface="Arial"/>
            </a:endParaRP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Redaction Processor</a:t>
            </a:r>
          </a:p>
        </p:txBody>
      </p:sp>
      <p:cxnSp>
        <p:nvCxnSpPr>
          <p:cNvPr id="41" name="Conector de Seta Reta 40"/>
          <p:cNvCxnSpPr>
            <a:stCxn id="12" idx="3"/>
            <a:endCxn id="14" idx="1"/>
          </p:cNvCxnSpPr>
          <p:nvPr/>
        </p:nvCxnSpPr>
        <p:spPr>
          <a:xfrm>
            <a:off x="4819650" y="3300413"/>
            <a:ext cx="457200" cy="81438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42" name="Conector de Seta Reta 41"/>
          <p:cNvCxnSpPr>
            <a:stCxn id="13" idx="3"/>
            <a:endCxn id="14" idx="1"/>
          </p:cNvCxnSpPr>
          <p:nvPr/>
        </p:nvCxnSpPr>
        <p:spPr>
          <a:xfrm flipV="1">
            <a:off x="4819650" y="4114800"/>
            <a:ext cx="457200" cy="72866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41558948-3B99-4CE7-963B-AB92666F444F}"/>
              </a:ext>
            </a:extLst>
          </p:cNvPr>
          <p:cNvSpPr>
            <a:spLocks noGrp="1"/>
          </p:cNvSpPr>
          <p:nvPr/>
        </p:nvSpPr>
        <p:spPr>
          <a:xfrm>
            <a:off x="7648575" y="2867025"/>
            <a:ext cx="1714500" cy="8953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Exporter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14F5F1E-CA66-4B17-9E56-7358712ED1DE}"/>
              </a:ext>
            </a:extLst>
          </p:cNvPr>
          <p:cNvSpPr>
            <a:spLocks noGrp="1"/>
          </p:cNvSpPr>
          <p:nvPr/>
        </p:nvSpPr>
        <p:spPr>
          <a:xfrm>
            <a:off x="7648575" y="4429125"/>
            <a:ext cx="1714500" cy="89535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AWS S3</a:t>
            </a:r>
          </a:p>
          <a:p>
            <a:pPr algn="ctr">
              <a:defRPr sz="165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2FC4"/>
                </a:solidFill>
                <a:latin typeface="Arial"/>
                <a:ea typeface="Arial"/>
                <a:cs typeface="Arial"/>
              </a:rPr>
              <a:t>Exporter</a:t>
            </a:r>
          </a:p>
        </p:txBody>
      </p:sp>
      <p:cxnSp>
        <p:nvCxnSpPr>
          <p:cNvPr id="45" name="Conector de Seta Reta 44"/>
          <p:cNvCxnSpPr>
            <a:stCxn id="14" idx="3"/>
            <a:endCxn id="17" idx="1"/>
          </p:cNvCxnSpPr>
          <p:nvPr/>
        </p:nvCxnSpPr>
        <p:spPr>
          <a:xfrm flipV="1">
            <a:off x="7286625" y="3314700"/>
            <a:ext cx="361950" cy="80010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46" name="Conector de Seta Reta 45"/>
          <p:cNvCxnSpPr>
            <a:stCxn id="14" idx="3"/>
            <a:endCxn id="18" idx="1"/>
          </p:cNvCxnSpPr>
          <p:nvPr/>
        </p:nvCxnSpPr>
        <p:spPr>
          <a:xfrm>
            <a:off x="7286625" y="4114800"/>
            <a:ext cx="361950" cy="76200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35A3CF6C-9381-4D7D-9408-D650ECDBEA93}"/>
              </a:ext>
            </a:extLst>
          </p:cNvPr>
          <p:cNvSpPr>
            <a:spLocks noGrp="1"/>
          </p:cNvSpPr>
          <p:nvPr/>
        </p:nvSpPr>
        <p:spPr>
          <a:xfrm>
            <a:off x="10067925" y="3000375"/>
            <a:ext cx="1638300" cy="6191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C752BDF-5BC4-4B19-BA42-B2537345BBC7}"/>
              </a:ext>
            </a:extLst>
          </p:cNvPr>
          <p:cNvSpPr>
            <a:spLocks noGrp="1"/>
          </p:cNvSpPr>
          <p:nvPr/>
        </p:nvSpPr>
        <p:spPr>
          <a:xfrm>
            <a:off x="10067925" y="4572000"/>
            <a:ext cx="1638300" cy="6191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AWS S3</a:t>
            </a:r>
          </a:p>
        </p:txBody>
      </p:sp>
      <p:cxnSp>
        <p:nvCxnSpPr>
          <p:cNvPr id="49" name="Conector de Seta Reta 48"/>
          <p:cNvCxnSpPr>
            <a:stCxn id="17" idx="3"/>
            <a:endCxn id="21" idx="1"/>
          </p:cNvCxnSpPr>
          <p:nvPr/>
        </p:nvCxnSpPr>
        <p:spPr>
          <a:xfrm flipV="1">
            <a:off x="9363075" y="3309938"/>
            <a:ext cx="704850" cy="476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50" name="Conector de Seta Reta 49"/>
          <p:cNvCxnSpPr>
            <a:stCxn id="18" idx="3"/>
            <a:endCxn id="22" idx="1"/>
          </p:cNvCxnSpPr>
          <p:nvPr/>
        </p:nvCxnSpPr>
        <p:spPr>
          <a:xfrm>
            <a:off x="9363075" y="4876800"/>
            <a:ext cx="704850" cy="476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A08A74EA-2A29-469F-917E-430136DAA112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99E7309-B06B-4A7C-871A-B385456A95F0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4291972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12AA630A-49C4-45E4-BC86-93CC6C39E07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Datadog Agent e DDOT Collector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296BE7-95A7-47A5-AC8F-F7265D4EEF1E}"/>
              </a:ext>
            </a:extLst>
          </p:cNvPr>
          <p:cNvSpPr>
            <a:spLocks noGrp="1"/>
          </p:cNvSpPr>
          <p:nvPr/>
        </p:nvSpPr>
        <p:spPr>
          <a:xfrm>
            <a:off x="523875" y="1924050"/>
            <a:ext cx="7477125" cy="3886200"/>
          </a:xfrm>
          <a:prstGeom prst="rect">
            <a:avLst/>
          </a:prstGeom>
          <a:solidFill>
            <a:srgbClr val="F1F5FC"/>
          </a:solidFill>
          <a:ln w="14288">
            <a:solidFill>
              <a:srgbClr val="9EAFCA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AB6855-8F40-474B-82BD-758134510656}"/>
              </a:ext>
            </a:extLst>
          </p:cNvPr>
          <p:cNvSpPr>
            <a:spLocks noGrp="1"/>
          </p:cNvSpPr>
          <p:nvPr/>
        </p:nvSpPr>
        <p:spPr>
          <a:xfrm>
            <a:off x="714375" y="2028825"/>
            <a:ext cx="69532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HOST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B18AC8-3232-4A71-99A3-6F16F844A9F7}"/>
              </a:ext>
            </a:extLst>
          </p:cNvPr>
          <p:cNvSpPr>
            <a:spLocks noGrp="1"/>
          </p:cNvSpPr>
          <p:nvPr/>
        </p:nvSpPr>
        <p:spPr>
          <a:xfrm>
            <a:off x="742950" y="2733675"/>
            <a:ext cx="2838450" cy="990600"/>
          </a:xfrm>
          <a:prstGeom prst="rect">
            <a:avLst/>
          </a:prstGeom>
          <a:solidFill>
            <a:srgbClr val="ECDDF7"/>
          </a:solidFill>
          <a:ln w="14288">
            <a:solidFill>
              <a:srgbClr val="ECDDF7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32FC4"/>
                </a:solidFill>
                <a:latin typeface="Arial"/>
                <a:ea typeface="Arial"/>
                <a:cs typeface="Arial"/>
              </a:rPr>
              <a:t>APP A</a:t>
            </a:r>
          </a:p>
          <a:p>
            <a:pPr algn="ctr">
              <a:defRPr sz="180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 tracing libraries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B496AB-2594-4D6E-A66C-6E71C2975D46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2838450" cy="990600"/>
          </a:xfrm>
          <a:prstGeom prst="rect">
            <a:avLst/>
          </a:prstGeom>
          <a:solidFill>
            <a:srgbClr val="ECDDF7"/>
          </a:solidFill>
          <a:ln w="14288">
            <a:solidFill>
              <a:srgbClr val="ECDDF7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0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32FC4"/>
                </a:solidFill>
                <a:latin typeface="Arial"/>
                <a:ea typeface="Arial"/>
                <a:cs typeface="Arial"/>
              </a:rPr>
              <a:t>APP B</a:t>
            </a:r>
          </a:p>
          <a:p>
            <a:pPr algn="ctr">
              <a:defRPr sz="1800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32FC4"/>
                </a:solidFill>
                <a:latin typeface="Arial"/>
                <a:ea typeface="Arial"/>
                <a:cs typeface="Arial"/>
              </a:rPr>
              <a:t>OTel SDK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6E66143-58D4-4F49-9564-97615E67B353}"/>
              </a:ext>
            </a:extLst>
          </p:cNvPr>
          <p:cNvSpPr>
            <a:spLocks noGrp="1"/>
          </p:cNvSpPr>
          <p:nvPr/>
        </p:nvSpPr>
        <p:spPr>
          <a:xfrm>
            <a:off x="4352925" y="2714625"/>
            <a:ext cx="3267075" cy="13144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AGENT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9C9182-C9D7-4ED8-98B8-ED49176C3133}"/>
              </a:ext>
            </a:extLst>
          </p:cNvPr>
          <p:cNvSpPr>
            <a:spLocks noGrp="1"/>
          </p:cNvSpPr>
          <p:nvPr/>
        </p:nvSpPr>
        <p:spPr>
          <a:xfrm>
            <a:off x="4352925" y="4524375"/>
            <a:ext cx="3267075" cy="952500"/>
          </a:xfrm>
          <a:prstGeom prst="rect">
            <a:avLst/>
          </a:prstGeom>
          <a:solidFill>
            <a:srgbClr val="D64C9A"/>
          </a:solidFill>
          <a:ln w="14288">
            <a:solidFill>
              <a:srgbClr val="D64C9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DDOT COLLECTOR</a:t>
            </a:r>
          </a:p>
        </p:txBody>
      </p:sp>
      <p:cxnSp>
        <p:nvCxnSpPr>
          <p:cNvPr id="27" name="Conector de Seta Reta 26"/>
          <p:cNvCxnSpPr>
            <a:stCxn id="4" idx="3"/>
            <a:endCxn id="6" idx="1"/>
          </p:cNvCxnSpPr>
          <p:nvPr/>
        </p:nvCxnSpPr>
        <p:spPr>
          <a:xfrm>
            <a:off x="3581400" y="3228975"/>
            <a:ext cx="771525" cy="142875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28" name="Conector de Seta Reta 27"/>
          <p:cNvCxnSpPr>
            <a:stCxn id="5" idx="3"/>
            <a:endCxn id="7" idx="1"/>
          </p:cNvCxnSpPr>
          <p:nvPr/>
        </p:nvCxnSpPr>
        <p:spPr>
          <a:xfrm>
            <a:off x="3581400" y="4972050"/>
            <a:ext cx="771525" cy="28575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C01CF25F-1CFA-4CBB-99B1-6CA66004392D}"/>
              </a:ext>
            </a:extLst>
          </p:cNvPr>
          <p:cNvSpPr>
            <a:spLocks noGrp="1"/>
          </p:cNvSpPr>
          <p:nvPr/>
        </p:nvSpPr>
        <p:spPr>
          <a:xfrm>
            <a:off x="3552825" y="4191000"/>
            <a:ext cx="7810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OTLP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752EE92-B8FC-4ADB-BE5E-C2778B97E1A2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2971800" cy="3886200"/>
          </a:xfrm>
          <a:prstGeom prst="rect">
            <a:avLst/>
          </a:prstGeom>
          <a:solidFill>
            <a:srgbClr val="F8EDF7"/>
          </a:solidFill>
          <a:ln w="14288">
            <a:solidFill>
              <a:srgbClr val="CA9DBC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1D7612-BCF3-4507-81DA-FD82FF97F1C2}"/>
              </a:ext>
            </a:extLst>
          </p:cNvPr>
          <p:cNvSpPr>
            <a:spLocks noGrp="1"/>
          </p:cNvSpPr>
          <p:nvPr/>
        </p:nvSpPr>
        <p:spPr>
          <a:xfrm>
            <a:off x="8763000" y="2095500"/>
            <a:ext cx="26479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OBSERVABILITY</a:t>
            </a:r>
          </a:p>
          <a:p>
            <a:pPr algn="ctr">
              <a:defRPr sz="172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84BD1F-8478-472B-B099-A29E0774DA85}"/>
              </a:ext>
            </a:extLst>
          </p:cNvPr>
          <p:cNvSpPr>
            <a:spLocks noGrp="1"/>
          </p:cNvSpPr>
          <p:nvPr/>
        </p:nvSpPr>
        <p:spPr>
          <a:xfrm>
            <a:off x="8953500" y="3086100"/>
            <a:ext cx="2257425" cy="8858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32DFBDA-A5C0-4082-BF28-E7BB1EF8D656}"/>
              </a:ext>
            </a:extLst>
          </p:cNvPr>
          <p:cNvSpPr>
            <a:spLocks noGrp="1"/>
          </p:cNvSpPr>
          <p:nvPr/>
        </p:nvSpPr>
        <p:spPr>
          <a:xfrm>
            <a:off x="8953500" y="4648200"/>
            <a:ext cx="2257425" cy="819150"/>
          </a:xfrm>
          <a:prstGeom prst="rect">
            <a:avLst/>
          </a:prstGeom>
          <a:solidFill>
            <a:srgbClr val="D64C9A"/>
          </a:solidFill>
          <a:ln w="14288">
            <a:solidFill>
              <a:srgbClr val="D64C9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ANY BACKEND</a:t>
            </a:r>
          </a:p>
        </p:txBody>
      </p:sp>
      <p:cxnSp>
        <p:nvCxnSpPr>
          <p:cNvPr id="34" name="Conector de Seta Reta 33"/>
          <p:cNvCxnSpPr>
            <a:stCxn id="6" idx="3"/>
            <a:endCxn id="13" idx="1"/>
          </p:cNvCxnSpPr>
          <p:nvPr/>
        </p:nvCxnSpPr>
        <p:spPr>
          <a:xfrm>
            <a:off x="7620000" y="3371850"/>
            <a:ext cx="1333500" cy="15716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35" name="Conector de Seta Reta 34"/>
          <p:cNvCxnSpPr>
            <a:stCxn id="7" idx="3"/>
            <a:endCxn id="13" idx="1"/>
          </p:cNvCxnSpPr>
          <p:nvPr/>
        </p:nvCxnSpPr>
        <p:spPr>
          <a:xfrm flipV="1">
            <a:off x="7620000" y="3529013"/>
            <a:ext cx="1333500" cy="147161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36" name="Conector de Seta Reta 35"/>
          <p:cNvCxnSpPr>
            <a:stCxn id="7" idx="3"/>
            <a:endCxn id="14" idx="1"/>
          </p:cNvCxnSpPr>
          <p:nvPr/>
        </p:nvCxnSpPr>
        <p:spPr>
          <a:xfrm>
            <a:off x="7620000" y="5000625"/>
            <a:ext cx="1333500" cy="571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7C20B635-4DDB-462F-94E2-573609CBFA78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E49D473-3D75-41A4-B8E6-957E9D0B599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5060475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E15A3519-0539-49D4-9A2F-6E331F8134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Suporte a padrões abertos: OpenTelemetry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843451-2564-4376-80D9-3AD53E256B5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Ingestão aberta, operações governadas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7FACBBB-DB9D-4B6E-8D36-F84C1FEBA13D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E5550B5-EC65-4E84-85E3-4E3EF4D3A70B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4881563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Seus aplicativos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53BF27-AF06-4603-A198-3F0394F7D11B}"/>
              </a:ext>
            </a:extLst>
          </p:cNvPr>
          <p:cNvSpPr>
            <a:spLocks noGrp="1"/>
          </p:cNvSpPr>
          <p:nvPr/>
        </p:nvSpPr>
        <p:spPr>
          <a:xfrm>
            <a:off x="6405563" y="2857500"/>
            <a:ext cx="4881563" cy="123825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</a:t>
            </a:r>
          </a:p>
          <a:p>
            <a:pPr algn="ctr"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Endpoint API OTLP</a:t>
            </a:r>
          </a:p>
        </p:txBody>
      </p:sp>
      <p:cxnSp>
        <p:nvCxnSpPr>
          <p:cNvPr id="15" name="Conector de Seta Reta 14"/>
          <p:cNvCxnSpPr>
            <a:stCxn id="4" idx="3"/>
            <a:endCxn id="5" idx="1"/>
          </p:cNvCxnSpPr>
          <p:nvPr/>
        </p:nvCxnSpPr>
        <p:spPr>
          <a:xfrm>
            <a:off x="5786438" y="3476625"/>
            <a:ext cx="6191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8AD738C8-BAD2-446B-8AA8-6CC4B0EB3EB4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Flexibilidade, controle e escalabilidade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F7B6964-041E-49F3-8B38-1D2F2512426E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A8C5F4-4E6D-404D-9993-AB79B1631B9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8523981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5BC32FE-F7BD-487F-A9FD-8F1510F063C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Workflow de reinício com ArgoCD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667" y="1495425"/>
            <a:ext cx="7196667" cy="4048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CECD7E9-43B6-49FA-837B-8C26C16C635E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Monitor ou SLO dispara o workflow   ·   Reinício da aplicação via ArgoCD   ·   Envio de mensagem e verificação do monitor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4901C7C-9FE7-4FBE-B131-98E7241BC26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597651-7B41-4FCD-AF4F-AB83034CC25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4598951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22B1A90B-F883-4E96-831E-30831E6AA6E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Private Action Runner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1CA3A6-E7A0-4176-A1F2-63D72BEA6200}"/>
              </a:ext>
            </a:extLst>
          </p:cNvPr>
          <p:cNvSpPr>
            <a:spLocks noGrp="1"/>
          </p:cNvSpPr>
          <p:nvPr/>
        </p:nvSpPr>
        <p:spPr>
          <a:xfrm>
            <a:off x="619125" y="1657350"/>
            <a:ext cx="10953750" cy="1476375"/>
          </a:xfrm>
          <a:prstGeom prst="rect">
            <a:avLst/>
          </a:prstGeom>
          <a:solidFill>
            <a:srgbClr val="F4ECFA"/>
          </a:solidFill>
          <a:ln w="14288">
            <a:solidFill>
              <a:srgbClr val="AD85CE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813873C-FE19-4445-A00D-74E256E67B84}"/>
              </a:ext>
            </a:extLst>
          </p:cNvPr>
          <p:cNvSpPr>
            <a:spLocks noGrp="1"/>
          </p:cNvSpPr>
          <p:nvPr/>
        </p:nvSpPr>
        <p:spPr>
          <a:xfrm>
            <a:off x="771525" y="17145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9FE9B7D-6596-4F1C-B57B-5CF83AEC3EA0}"/>
              </a:ext>
            </a:extLst>
          </p:cNvPr>
          <p:cNvSpPr>
            <a:spLocks noGrp="1"/>
          </p:cNvSpPr>
          <p:nvPr/>
        </p:nvSpPr>
        <p:spPr>
          <a:xfrm>
            <a:off x="1143000" y="2200275"/>
            <a:ext cx="2047875" cy="6858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6A42D3-87DA-407F-8BF9-1C138ACACE02}"/>
              </a:ext>
            </a:extLst>
          </p:cNvPr>
          <p:cNvSpPr>
            <a:spLocks noGrp="1"/>
          </p:cNvSpPr>
          <p:nvPr/>
        </p:nvSpPr>
        <p:spPr>
          <a:xfrm>
            <a:off x="3838575" y="2200275"/>
            <a:ext cx="2047875" cy="6858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ENQUEUE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00163DB-7784-44EE-85C1-6ED93257F370}"/>
              </a:ext>
            </a:extLst>
          </p:cNvPr>
          <p:cNvSpPr>
            <a:spLocks noGrp="1"/>
          </p:cNvSpPr>
          <p:nvPr/>
        </p:nvSpPr>
        <p:spPr>
          <a:xfrm>
            <a:off x="6829425" y="2200275"/>
            <a:ext cx="2047875" cy="6858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HANDLE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 RESULT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250B0C-6681-4273-96CB-0EF7D2CC459D}"/>
              </a:ext>
            </a:extLst>
          </p:cNvPr>
          <p:cNvSpPr>
            <a:spLocks noGrp="1"/>
          </p:cNvSpPr>
          <p:nvPr/>
        </p:nvSpPr>
        <p:spPr>
          <a:xfrm>
            <a:off x="9448800" y="2200275"/>
            <a:ext cx="1847850" cy="685800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</a:t>
            </a:r>
          </a:p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cxnSp>
        <p:nvCxnSpPr>
          <p:cNvPr id="31" name="Conector de Seta Reta 30"/>
          <p:cNvCxnSpPr>
            <a:stCxn id="4" idx="3"/>
            <a:endCxn id="5" idx="1"/>
          </p:cNvCxnSpPr>
          <p:nvPr/>
        </p:nvCxnSpPr>
        <p:spPr>
          <a:xfrm>
            <a:off x="3190875" y="2543175"/>
            <a:ext cx="647700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32" name="Conector de Seta Reta 31"/>
          <p:cNvCxnSpPr>
            <a:stCxn id="6" idx="3"/>
            <a:endCxn id="7" idx="1"/>
          </p:cNvCxnSpPr>
          <p:nvPr/>
        </p:nvCxnSpPr>
        <p:spPr>
          <a:xfrm>
            <a:off x="8877300" y="2543175"/>
            <a:ext cx="571500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2A9CF081-1463-46E9-90B4-16625A353796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10953750" cy="2343150"/>
          </a:xfrm>
          <a:prstGeom prst="rect">
            <a:avLst/>
          </a:prstGeom>
          <a:solidFill>
            <a:srgbClr val="FFF1F5"/>
          </a:solidFill>
          <a:ln w="14288">
            <a:solidFill>
              <a:srgbClr val="D89FB7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64E110-7787-4617-B641-0D466BD13657}"/>
              </a:ext>
            </a:extLst>
          </p:cNvPr>
          <p:cNvSpPr>
            <a:spLocks noGrp="1"/>
          </p:cNvSpPr>
          <p:nvPr/>
        </p:nvSpPr>
        <p:spPr>
          <a:xfrm>
            <a:off x="762000" y="6115050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PRIVATE NETWORK OR CLOUD — PRIVATE ACTION RUNNER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707CFD1-66AD-4FC1-8E7E-BE2D6AAC0463}"/>
              </a:ext>
            </a:extLst>
          </p:cNvPr>
          <p:cNvSpPr>
            <a:spLocks noGrp="1"/>
          </p:cNvSpPr>
          <p:nvPr/>
        </p:nvSpPr>
        <p:spPr>
          <a:xfrm>
            <a:off x="1181100" y="4238625"/>
            <a:ext cx="2219325" cy="638175"/>
          </a:xfrm>
          <a:prstGeom prst="rect">
            <a:avLst/>
          </a:prstGeom>
          <a:solidFill>
            <a:srgbClr val="D64C9A"/>
          </a:solidFill>
          <a:ln w="14288">
            <a:solidFill>
              <a:srgbClr val="D64C9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POLL FOR TASK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91BB38-BAA3-4D6B-B18C-4425F0C23013}"/>
              </a:ext>
            </a:extLst>
          </p:cNvPr>
          <p:cNvSpPr>
            <a:spLocks noGrp="1"/>
          </p:cNvSpPr>
          <p:nvPr/>
        </p:nvSpPr>
        <p:spPr>
          <a:xfrm>
            <a:off x="4686300" y="4238625"/>
            <a:ext cx="2343150" cy="638175"/>
          </a:xfrm>
          <a:prstGeom prst="rect">
            <a:avLst/>
          </a:prstGeom>
          <a:solidFill>
            <a:srgbClr val="D64C9A"/>
          </a:solidFill>
          <a:ln w="14288">
            <a:solidFill>
              <a:srgbClr val="D64C9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 TASK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A82FBC3-6DFA-4A48-BAA7-4236C9822477}"/>
              </a:ext>
            </a:extLst>
          </p:cNvPr>
          <p:cNvSpPr>
            <a:spLocks noGrp="1"/>
          </p:cNvSpPr>
          <p:nvPr/>
        </p:nvSpPr>
        <p:spPr>
          <a:xfrm>
            <a:off x="8639175" y="4238625"/>
            <a:ext cx="2638425" cy="638175"/>
          </a:xfrm>
          <a:prstGeom prst="rect">
            <a:avLst/>
          </a:prstGeom>
          <a:solidFill>
            <a:srgbClr val="D64C9A"/>
          </a:solidFill>
          <a:ln w="14288">
            <a:solidFill>
              <a:srgbClr val="D64C9A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 TASK RESULT</a:t>
            </a:r>
          </a:p>
        </p:txBody>
      </p:sp>
      <p:cxnSp>
        <p:nvCxnSpPr>
          <p:cNvPr id="38" name="Conector de Seta Reta 37"/>
          <p:cNvCxnSpPr>
            <a:stCxn id="5" idx="2"/>
            <a:endCxn id="12" idx="0"/>
          </p:cNvCxnSpPr>
          <p:nvPr/>
        </p:nvCxnSpPr>
        <p:spPr>
          <a:xfrm flipH="1">
            <a:off x="2290763" y="2886075"/>
            <a:ext cx="2571750" cy="1352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39" name="Conector de Seta Reta 38"/>
          <p:cNvCxnSpPr>
            <a:stCxn id="12" idx="3"/>
            <a:endCxn id="13" idx="1"/>
          </p:cNvCxnSpPr>
          <p:nvPr/>
        </p:nvCxnSpPr>
        <p:spPr>
          <a:xfrm>
            <a:off x="3400425" y="4557713"/>
            <a:ext cx="128587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40" name="Conector de Seta Reta 39"/>
          <p:cNvCxnSpPr>
            <a:stCxn id="13" idx="3"/>
            <a:endCxn id="14" idx="1"/>
          </p:cNvCxnSpPr>
          <p:nvPr/>
        </p:nvCxnSpPr>
        <p:spPr>
          <a:xfrm>
            <a:off x="7029450" y="4557713"/>
            <a:ext cx="1609725" cy="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41" name="Conector de Seta Reta 40"/>
          <p:cNvCxnSpPr>
            <a:stCxn id="14" idx="0"/>
            <a:endCxn id="6" idx="2"/>
          </p:cNvCxnSpPr>
          <p:nvPr/>
        </p:nvCxnSpPr>
        <p:spPr>
          <a:xfrm flipH="1" flipV="1">
            <a:off x="7853363" y="2886075"/>
            <a:ext cx="2105025" cy="1352550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0200CB67-5698-4425-807F-EEFAA773AB4B}"/>
              </a:ext>
            </a:extLst>
          </p:cNvPr>
          <p:cNvSpPr>
            <a:spLocks noGrp="1"/>
          </p:cNvSpPr>
          <p:nvPr/>
        </p:nvSpPr>
        <p:spPr>
          <a:xfrm>
            <a:off x="3333750" y="5295900"/>
            <a:ext cx="7905750" cy="523875"/>
          </a:xfrm>
          <a:prstGeom prst="rect">
            <a:avLst/>
          </a:prstGeom>
          <a:solidFill>
            <a:srgbClr val="F6CFE1"/>
          </a:solidFill>
          <a:ln w="14288">
            <a:solidFill>
              <a:srgbClr val="F6CFE1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725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02C"/>
                </a:solidFill>
                <a:latin typeface="Arial"/>
                <a:ea typeface="Arial"/>
                <a:cs typeface="Arial"/>
              </a:rPr>
              <a:t>CUSTOMER SYSTEM · INTERNAL SERVICE / INTERNAL DATABASE</a:t>
            </a:r>
          </a:p>
        </p:txBody>
      </p:sp>
      <p:cxnSp>
        <p:nvCxnSpPr>
          <p:cNvPr id="43" name="Conector de Seta Reta 42"/>
          <p:cNvCxnSpPr>
            <a:stCxn id="13" idx="2"/>
            <a:endCxn id="19" idx="0"/>
          </p:cNvCxnSpPr>
          <p:nvPr/>
        </p:nvCxnSpPr>
        <p:spPr>
          <a:xfrm>
            <a:off x="5857875" y="4876800"/>
            <a:ext cx="1428750" cy="419100"/>
          </a:xfrm>
          <a:prstGeom prst="straightConnector1">
            <a:avLst/>
          </a:prstGeom>
          <a:ln w="23813">
            <a:solidFill>
              <a:srgbClr val="632FC4"/>
            </a:solidFill>
            <a:headEnd type="triangle" w="med" len="med"/>
            <a:tailEnd type="triangle" w="med" len="med"/>
          </a:ln>
        </p:spPr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B0F08DFC-A08B-48EE-838A-14CD297D7BFF}"/>
              </a:ext>
            </a:extLst>
          </p:cNvPr>
          <p:cNvSpPr>
            <a:spLocks noGrp="1"/>
          </p:cNvSpPr>
          <p:nvPr/>
        </p:nvSpPr>
        <p:spPr>
          <a:xfrm>
            <a:off x="4362450" y="3267075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Comunicação HTTPS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19A9910-8EF4-4520-89AB-139802FBBE72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174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27D05C0-7908-4E39-B415-6B46CF5FB15C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8829839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2DA28AE0-2BBD-4A88-9FE0-7390D3F2A33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Realização de ações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DBAC279-EC9A-4789-A1D3-6F2E35FD43E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Operações de ciclo fechado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26812CF-14E8-410C-993D-63ABE570FEA8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234890-169D-41B4-8AE0-20BD40A4A193}"/>
              </a:ext>
            </a:extLst>
          </p:cNvPr>
          <p:cNvSpPr>
            <a:spLocks noGrp="1"/>
          </p:cNvSpPr>
          <p:nvPr/>
        </p:nvSpPr>
        <p:spPr>
          <a:xfrm>
            <a:off x="4429125" y="2266950"/>
            <a:ext cx="2857500" cy="809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E71A28-73B2-4FC2-8267-3DD927F20C0B}"/>
              </a:ext>
            </a:extLst>
          </p:cNvPr>
          <p:cNvSpPr>
            <a:spLocks noGrp="1"/>
          </p:cNvSpPr>
          <p:nvPr/>
        </p:nvSpPr>
        <p:spPr>
          <a:xfrm>
            <a:off x="8334375" y="3381375"/>
            <a:ext cx="2857500" cy="809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799D33-D998-4050-ABF7-6E7C1433BB8F}"/>
              </a:ext>
            </a:extLst>
          </p:cNvPr>
          <p:cNvSpPr>
            <a:spLocks noGrp="1"/>
          </p:cNvSpPr>
          <p:nvPr/>
        </p:nvSpPr>
        <p:spPr>
          <a:xfrm>
            <a:off x="4429125" y="4810125"/>
            <a:ext cx="2857500" cy="809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948D54-7193-4D0B-8323-7F7CF2948538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2857500" cy="80962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Agir</a:t>
            </a:r>
          </a:p>
        </p:txBody>
      </p:sp>
      <p:cxnSp>
        <p:nvCxnSpPr>
          <p:cNvPr id="23" name="Conector de Seta Reta 22"/>
          <p:cNvCxnSpPr>
            <a:stCxn id="4" idx="3"/>
            <a:endCxn id="5" idx="0"/>
          </p:cNvCxnSpPr>
          <p:nvPr/>
        </p:nvCxnSpPr>
        <p:spPr>
          <a:xfrm>
            <a:off x="7286625" y="2671763"/>
            <a:ext cx="2476500" cy="70961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24" name="Conector de Seta Reta 23"/>
          <p:cNvCxnSpPr>
            <a:stCxn id="5" idx="2"/>
            <a:endCxn id="6" idx="3"/>
          </p:cNvCxnSpPr>
          <p:nvPr/>
        </p:nvCxnSpPr>
        <p:spPr>
          <a:xfrm flipH="1">
            <a:off x="7286625" y="4191000"/>
            <a:ext cx="2476500" cy="102393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25" name="Conector de Seta Reta 24"/>
          <p:cNvCxnSpPr>
            <a:stCxn id="6" idx="1"/>
            <a:endCxn id="7" idx="2"/>
          </p:cNvCxnSpPr>
          <p:nvPr/>
        </p:nvCxnSpPr>
        <p:spPr>
          <a:xfrm flipH="1" flipV="1">
            <a:off x="2238375" y="4191000"/>
            <a:ext cx="2190750" cy="1023938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26" name="Conector de Seta Reta 25"/>
          <p:cNvCxnSpPr>
            <a:stCxn id="7" idx="0"/>
            <a:endCxn id="4" idx="1"/>
          </p:cNvCxnSpPr>
          <p:nvPr/>
        </p:nvCxnSpPr>
        <p:spPr>
          <a:xfrm flipV="1">
            <a:off x="2238375" y="2671763"/>
            <a:ext cx="2190750" cy="709613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27F0BFB3-B23C-4321-B632-E5309AD4FBAF}"/>
              </a:ext>
            </a:extLst>
          </p:cNvPr>
          <p:cNvSpPr>
            <a:spLocks noGrp="1"/>
          </p:cNvSpPr>
          <p:nvPr/>
        </p:nvSpPr>
        <p:spPr>
          <a:xfrm>
            <a:off x="3886200" y="3314700"/>
            <a:ext cx="3943350" cy="1257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9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Agente com executor</a:t>
            </a:r>
          </a:p>
          <a:p>
            <a:pPr algn="ctr">
              <a:defRPr sz="19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de ações privado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731515B-8999-4C6F-991B-7780DF9B2AE9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Insight → execução governada → correção mais rápida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10D1C12-DC6C-48E9-8022-7CDA3BF255D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B44EE80-3EFB-420A-9187-337B530C553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14087066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CA678D0-DEB9-4300-B136-1E70E9019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Futuro agêntico do agente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DBC320-A3CD-4835-B59D-F1BD20315AC9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Insights → raciocínio → ação → resultado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C9EE4EA-B840-4C31-9F37-05EB02B64E60}"/>
              </a:ext>
            </a:extLst>
          </p:cNvPr>
          <p:cNvSpPr>
            <a:spLocks noGrp="1"/>
          </p:cNvSpPr>
          <p:nvPr/>
        </p:nvSpPr>
        <p:spPr>
          <a:xfrm>
            <a:off x="9715500" y="1619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35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O futuro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1DCF67-9CA2-4C19-845B-C71D767AD2D7}"/>
              </a:ext>
            </a:extLst>
          </p:cNvPr>
          <p:cNvSpPr>
            <a:spLocks noGrp="1"/>
          </p:cNvSpPr>
          <p:nvPr/>
        </p:nvSpPr>
        <p:spPr>
          <a:xfrm>
            <a:off x="2762250" y="2209800"/>
            <a:ext cx="6667500" cy="790575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Bits AI</a:t>
            </a:r>
          </a:p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Raciocínio + planejamento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ABF1DD-53BF-4B60-B37B-169815C7A842}"/>
              </a:ext>
            </a:extLst>
          </p:cNvPr>
          <p:cNvSpPr>
            <a:spLocks noGrp="1"/>
          </p:cNvSpPr>
          <p:nvPr/>
        </p:nvSpPr>
        <p:spPr>
          <a:xfrm>
            <a:off x="2762250" y="3429000"/>
            <a:ext cx="6667500" cy="790575"/>
          </a:xfrm>
          <a:prstGeom prst="rect">
            <a:avLst/>
          </a:prstGeom>
          <a:solidFill>
            <a:srgbClr val="632FC4"/>
          </a:solidFill>
          <a:ln w="14288">
            <a:solidFill>
              <a:srgbClr val="632FC4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Datadog Agent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4049F19-D0E0-4A87-AD9D-FBF13FA8E029}"/>
              </a:ext>
            </a:extLst>
          </p:cNvPr>
          <p:cNvSpPr>
            <a:spLocks noGrp="1"/>
          </p:cNvSpPr>
          <p:nvPr/>
        </p:nvSpPr>
        <p:spPr>
          <a:xfrm>
            <a:off x="2762250" y="4648200"/>
            <a:ext cx="6667500" cy="990600"/>
          </a:xfrm>
          <a:prstGeom prst="rect">
            <a:avLst/>
          </a:prstGeom>
          <a:solidFill>
            <a:srgbClr val="EEE7F9"/>
          </a:solidFill>
          <a:ln w="14288">
            <a:solidFill>
              <a:srgbClr val="EEE7F9"/>
            </a:solidFill>
          </a:ln>
        </p:spPr>
        <p:txBody>
          <a:bodyPr lIns="133350" tIns="76200" rIns="133350" bIns="76200" anchor="ctr">
            <a:noAutofit/>
          </a:bodyPr>
          <a:lstStyle/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Correção do ambiente do cliente</a:t>
            </a:r>
          </a:p>
          <a:p>
            <a:pPr algn="ctr">
              <a:defRPr sz="1875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2FC4"/>
                </a:solidFill>
                <a:latin typeface="Arial"/>
                <a:ea typeface="Arial"/>
                <a:cs typeface="Arial"/>
              </a:rPr>
              <a:t>Reiniciar serviço · alterar configuração · executar workflow</a:t>
            </a:r>
          </a:p>
        </p:txBody>
      </p:sp>
      <p:cxnSp>
        <p:nvCxnSpPr>
          <p:cNvPr id="18" name="Conector de Seta Reta 17"/>
          <p:cNvCxnSpPr>
            <a:stCxn id="4" idx="2"/>
            <a:endCxn id="5" idx="0"/>
          </p:cNvCxnSpPr>
          <p:nvPr/>
        </p:nvCxnSpPr>
        <p:spPr>
          <a:xfrm>
            <a:off x="6096000" y="3000375"/>
            <a:ext cx="0" cy="428625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cxnSp>
        <p:nvCxnSpPr>
          <p:cNvPr id="19" name="Conector de Seta Reta 18"/>
          <p:cNvCxnSpPr>
            <a:stCxn id="5" idx="2"/>
            <a:endCxn id="6" idx="0"/>
          </p:cNvCxnSpPr>
          <p:nvPr/>
        </p:nvCxnSpPr>
        <p:spPr>
          <a:xfrm>
            <a:off x="6096000" y="4219575"/>
            <a:ext cx="0" cy="428625"/>
          </a:xfrm>
          <a:prstGeom prst="straightConnector1">
            <a:avLst/>
          </a:prstGeom>
          <a:ln w="23813">
            <a:solidFill>
              <a:srgbClr val="632FC4"/>
            </a:solidFill>
            <a:tailEnd type="triangle" w="med" len="med"/>
          </a:ln>
        </p:spPr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34BD5506-142B-46C9-AED8-0ED3BC211A20}"/>
              </a:ext>
            </a:extLst>
          </p:cNvPr>
          <p:cNvSpPr>
            <a:spLocks noGrp="1"/>
          </p:cNvSpPr>
          <p:nvPr/>
        </p:nvSpPr>
        <p:spPr>
          <a:xfrm>
            <a:off x="714375" y="56578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53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5C6C"/>
                </a:solidFill>
                <a:latin typeface="Arial"/>
                <a:ea typeface="Arial"/>
                <a:cs typeface="Arial"/>
              </a:rPr>
              <a:t>O agente não é mais apenas onde a telemetria começa. Agora, é também onde ações governadas acontecem.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74A7349-FC2E-46F7-B93B-510FC60F347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0A34E25-7454-4D59-BD13-67E5E1FCE296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9015512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1A86BD10-EB4C-419A-92B5-7E1FAD1D74B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02C"/>
                </a:solidFill>
                <a:latin typeface="Arial"/>
                <a:ea typeface="Arial"/>
                <a:cs typeface="Arial"/>
              </a:rPr>
              <a:t>Linha do tempo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291E432-52A9-4B41-B836-2CDC339E95A2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2010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53DE00A-5038-4A5D-8DBF-53181E14B9ED}"/>
              </a:ext>
            </a:extLst>
          </p:cNvPr>
          <p:cNvSpPr>
            <a:spLocks noGrp="1"/>
          </p:cNvSpPr>
          <p:nvPr/>
        </p:nvSpPr>
        <p:spPr>
          <a:xfrm>
            <a:off x="714375" y="2314575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Nasce o Datadog Agent, estendendo os padrões existentes com o DogStatsD.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34AB3C-E925-4ED4-99FE-C9DEC165F792}"/>
              </a:ext>
            </a:extLst>
          </p:cNvPr>
          <p:cNvSpPr>
            <a:spLocks noGrp="1"/>
          </p:cNvSpPr>
          <p:nvPr/>
        </p:nvSpPr>
        <p:spPr>
          <a:xfrm>
            <a:off x="3505200" y="1666875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2015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6594E1-D2A6-4B6A-BD6D-0EF7149F75A8}"/>
              </a:ext>
            </a:extLst>
          </p:cNvPr>
          <p:cNvSpPr>
            <a:spLocks noGrp="1"/>
          </p:cNvSpPr>
          <p:nvPr/>
        </p:nvSpPr>
        <p:spPr>
          <a:xfrm>
            <a:off x="3505200" y="2314575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agente adiciona contexto, apoiando uma infraestrutura nova e dinâmica.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129734-4362-4A53-A388-2523A750BF4C}"/>
              </a:ext>
            </a:extLst>
          </p:cNvPr>
          <p:cNvSpPr>
            <a:spLocks noGrp="1"/>
          </p:cNvSpPr>
          <p:nvPr/>
        </p:nvSpPr>
        <p:spPr>
          <a:xfrm>
            <a:off x="6296025" y="1666875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CB44E3-A7D5-4D1E-9D65-6A5B5FF01751}"/>
              </a:ext>
            </a:extLst>
          </p:cNvPr>
          <p:cNvSpPr>
            <a:spLocks noGrp="1"/>
          </p:cNvSpPr>
          <p:nvPr/>
        </p:nvSpPr>
        <p:spPr>
          <a:xfrm>
            <a:off x="6296025" y="2314575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As extensões serverless adaptam a abordagem do agente para cargas de trabalho sob demanda.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4B721A7-1409-4EB4-94DD-EA70B1B272BC}"/>
              </a:ext>
            </a:extLst>
          </p:cNvPr>
          <p:cNvSpPr>
            <a:spLocks noGrp="1"/>
          </p:cNvSpPr>
          <p:nvPr/>
        </p:nvSpPr>
        <p:spPr>
          <a:xfrm>
            <a:off x="9086850" y="1666875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D35FB45-4729-48BD-A20D-A649729BBAF1}"/>
              </a:ext>
            </a:extLst>
          </p:cNvPr>
          <p:cNvSpPr>
            <a:spLocks noGrp="1"/>
          </p:cNvSpPr>
          <p:nvPr/>
        </p:nvSpPr>
        <p:spPr>
          <a:xfrm>
            <a:off x="9086850" y="2314575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A configuração remota permite controlar o comportamento do agente a partir da plataforma Datadog.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56C605-8F17-43B1-BB8E-3E4D65DCA842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214666-3F24-4B4F-90C9-7A7ABAA9E9AD}"/>
              </a:ext>
            </a:extLst>
          </p:cNvPr>
          <p:cNvSpPr>
            <a:spLocks noGrp="1"/>
          </p:cNvSpPr>
          <p:nvPr/>
        </p:nvSpPr>
        <p:spPr>
          <a:xfrm>
            <a:off x="714375" y="4552950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Fleet Management centraliza o gerenciamento operacional do agente.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4FB945E-683D-4CF5-B0AE-575B05744D7D}"/>
              </a:ext>
            </a:extLst>
          </p:cNvPr>
          <p:cNvSpPr>
            <a:spLocks noGrp="1"/>
          </p:cNvSpPr>
          <p:nvPr/>
        </p:nvSpPr>
        <p:spPr>
          <a:xfrm>
            <a:off x="3505200" y="3905250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2341F4A-2A0A-41C1-85D7-F94223F819A5}"/>
              </a:ext>
            </a:extLst>
          </p:cNvPr>
          <p:cNvSpPr>
            <a:spLocks noGrp="1"/>
          </p:cNvSpPr>
          <p:nvPr/>
        </p:nvSpPr>
        <p:spPr>
          <a:xfrm>
            <a:off x="3505200" y="4552950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DDOT Collector coloca os recursos avançados do OpenTelemetry dentro do agente.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CE0EAF-F34B-4E9F-A9A4-D5FC410B2819}"/>
              </a:ext>
            </a:extLst>
          </p:cNvPr>
          <p:cNvSpPr>
            <a:spLocks noGrp="1"/>
          </p:cNvSpPr>
          <p:nvPr/>
        </p:nvSpPr>
        <p:spPr>
          <a:xfrm>
            <a:off x="6296025" y="3905250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6E438A-737F-41FD-ACD6-B4DD7C77D2A7}"/>
              </a:ext>
            </a:extLst>
          </p:cNvPr>
          <p:cNvSpPr>
            <a:spLocks noGrp="1"/>
          </p:cNvSpPr>
          <p:nvPr/>
        </p:nvSpPr>
        <p:spPr>
          <a:xfrm>
            <a:off x="6296025" y="4552950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agente se torna uma camada de ação para a plataforma Datadog na borda.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204A5D2-142B-4AAF-99AF-63CA321DCF48}"/>
              </a:ext>
            </a:extLst>
          </p:cNvPr>
          <p:cNvSpPr>
            <a:spLocks noGrp="1"/>
          </p:cNvSpPr>
          <p:nvPr/>
        </p:nvSpPr>
        <p:spPr>
          <a:xfrm>
            <a:off x="9086850" y="3905250"/>
            <a:ext cx="2457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????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003FD7-D58B-45A9-B6EF-8125FC53524A}"/>
              </a:ext>
            </a:extLst>
          </p:cNvPr>
          <p:cNvSpPr>
            <a:spLocks noGrp="1"/>
          </p:cNvSpPr>
          <p:nvPr/>
        </p:nvSpPr>
        <p:spPr>
          <a:xfrm>
            <a:off x="9086850" y="4552950"/>
            <a:ext cx="24384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820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02C"/>
                </a:solidFill>
                <a:latin typeface="Arial"/>
                <a:ea typeface="Arial"/>
                <a:cs typeface="Arial"/>
              </a:rPr>
              <a:t>O agente se torna uma camada de execução para uma plataforma inteligente que encontra e corrige problemas de forma autônoma.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E60319-A2E7-4DC1-B56C-1DA38FE9049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746F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F7D"/>
                </a:solidFill>
                <a:latin typeface="Arial"/>
                <a:ea typeface="Arial"/>
                <a:cs typeface="Arial"/>
              </a:rPr>
              <a:t>177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9F4915A-310F-4617-B1DB-659A4BC4770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632F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2FC4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</p:spTree>
    <p:extLst>
      <p:ext uri="{BB962C8B-B14F-4D97-AF65-F5344CB8AC3E}">
        <p14:creationId xmlns:p14="http://schemas.microsoft.com/office/powerpoint/2010/main" val="608938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4372</Words>
  <Application>Microsoft Office PowerPoint</Application>
  <DocSecurity>0</DocSecurity>
  <PresentationFormat>Widescreen</PresentationFormat>
  <Paragraphs>901</Paragraphs>
  <Slides>95</Slides>
  <Notes>95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95</vt:i4>
      </vt:variant>
    </vt:vector>
  </HeadingPairs>
  <TitlesOfParts>
    <vt:vector size="98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William Johnny Honorato</cp:lastModifiedBy>
  <cp:revision>1</cp:revision>
  <dcterms:created xsi:type="dcterms:W3CDTF">2026-09-16T00:45:06Z</dcterms:created>
  <dcterms:modified xsi:type="dcterms:W3CDTF">2026-09-16T01:04:17Z</dcterms:modified>
</cp:coreProperties>
</file>